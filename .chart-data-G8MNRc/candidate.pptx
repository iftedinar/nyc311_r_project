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a66b5e7a8c4b51" /><Relationship Type="http://schemas.openxmlformats.org/officeDocument/2006/relationships/extended-properties" Target="/docProps/app.xml" Id="Ra770e4a53c2f44a5" /><Relationship Type="http://schemas.openxmlformats.org/officeDocument/2006/relationships/officeDocument" Target="/ppt/presentation.xml" Id="R386a0f6b82f8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4c6f78d6944ae"/>
  </p:sldMasterIdLst>
  <p:notesMasterIdLst>
    <p:notesMasterId xmlns:r="http://schemas.openxmlformats.org/officeDocument/2006/relationships" r:id="R138270ea4a6e4a63"/>
  </p:notesMasterIdLst>
  <p:sldIdLst>
    <p:sldId xmlns:r="http://schemas.openxmlformats.org/officeDocument/2006/relationships" id="256" r:id="R30a19c68be8640dd"/>
    <p:sldId xmlns:r="http://schemas.openxmlformats.org/officeDocument/2006/relationships" id="257" r:id="Rc136b2c32e2444ed"/>
    <p:sldId xmlns:r="http://schemas.openxmlformats.org/officeDocument/2006/relationships" id="258" r:id="R538550eff772415a"/>
    <p:sldId xmlns:r="http://schemas.openxmlformats.org/officeDocument/2006/relationships" id="259" r:id="R146d64ecedce49cf"/>
    <p:sldId xmlns:r="http://schemas.openxmlformats.org/officeDocument/2006/relationships" id="260" r:id="R0037bb80fee6484a"/>
    <p:sldId xmlns:r="http://schemas.openxmlformats.org/officeDocument/2006/relationships" id="261" r:id="Rf9f3a94fb3cd4475"/>
    <p:sldId xmlns:r="http://schemas.openxmlformats.org/officeDocument/2006/relationships" id="262" r:id="R42de3151e9b0449b"/>
    <p:sldId xmlns:r="http://schemas.openxmlformats.org/officeDocument/2006/relationships" id="263" r:id="R874f55bb8bfa4b90"/>
    <p:sldId xmlns:r="http://schemas.openxmlformats.org/officeDocument/2006/relationships" id="264" r:id="R0a16c295dff0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3688835a664c0e" /><Relationship Type="http://schemas.openxmlformats.org/officeDocument/2006/relationships/slideMaster" Target="/ppt/slideMasters/slideMaster1.xml" Id="Re384c6f78d6944ae" /><Relationship Type="http://schemas.openxmlformats.org/officeDocument/2006/relationships/notesMaster" Target="/ppt/notesMasters/notesMaster1.xml" Id="R138270ea4a6e4a63" /><Relationship Type="http://schemas.openxmlformats.org/officeDocument/2006/relationships/presProps" Target="/ppt/presProps.xml" Id="R4aa7f5e60d0247d0" /><Relationship Type="http://schemas.openxmlformats.org/officeDocument/2006/relationships/tableStyles" Target="/ppt/tableStyles.xml" Id="Rb0209958767b47dc" /><Relationship Type="http://schemas.openxmlformats.org/officeDocument/2006/relationships/slide" Target="/ppt/slides/slide1.xml" Id="R30a19c68be8640dd" /><Relationship Type="http://schemas.openxmlformats.org/officeDocument/2006/relationships/slide" Target="/ppt/slides/slide2.xml" Id="Rc136b2c32e2444ed" /><Relationship Type="http://schemas.openxmlformats.org/officeDocument/2006/relationships/slide" Target="/ppt/slides/slide3.xml" Id="R538550eff772415a" /><Relationship Type="http://schemas.openxmlformats.org/officeDocument/2006/relationships/slide" Target="/ppt/slides/slide4.xml" Id="R146d64ecedce49cf" /><Relationship Type="http://schemas.openxmlformats.org/officeDocument/2006/relationships/slide" Target="/ppt/slides/slide5.xml" Id="R0037bb80fee6484a" /><Relationship Type="http://schemas.openxmlformats.org/officeDocument/2006/relationships/slide" Target="/ppt/slides/slide6.xml" Id="Rf9f3a94fb3cd4475" /><Relationship Type="http://schemas.openxmlformats.org/officeDocument/2006/relationships/slide" Target="/ppt/slides/slide7.xml" Id="R42de3151e9b0449b" /><Relationship Type="http://schemas.openxmlformats.org/officeDocument/2006/relationships/slide" Target="/ppt/slides/slide8.xml" Id="R874f55bb8bfa4b90" /><Relationship Type="http://schemas.openxmlformats.org/officeDocument/2006/relationships/slide" Target="/ppt/slides/slide9.xml" Id="R0a16c295dff0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50cccf186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e8e55539e468b" /><Relationship Type="http://schemas.openxmlformats.org/officeDocument/2006/relationships/notesMaster" Target="/ppt/notesMasters/notesMaster1.xml" Id="R76078e1ef08e4a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365d246024572" /><Relationship Type="http://schemas.openxmlformats.org/officeDocument/2006/relationships/notesMaster" Target="/ppt/notesMasters/notesMaster1.xml" Id="R97749808e033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b853eaf8c44eae" /><Relationship Type="http://schemas.openxmlformats.org/officeDocument/2006/relationships/notesMaster" Target="/ppt/notesMasters/notesMaster1.xml" Id="R84fd40106ed546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a6058daa54b4d" /><Relationship Type="http://schemas.openxmlformats.org/officeDocument/2006/relationships/notesMaster" Target="/ppt/notesMasters/notesMaster1.xml" Id="R012bf760d680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d408549ee4186" /><Relationship Type="http://schemas.openxmlformats.org/officeDocument/2006/relationships/notesMaster" Target="/ppt/notesMasters/notesMaster1.xml" Id="R018a789103db44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9409bf771346e2" /><Relationship Type="http://schemas.openxmlformats.org/officeDocument/2006/relationships/notesMaster" Target="/ppt/notesMasters/notesMaster1.xml" Id="Re6b5f47d50cd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7c3376b71d464d" /><Relationship Type="http://schemas.openxmlformats.org/officeDocument/2006/relationships/notesMaster" Target="/ppt/notesMasters/notesMaster1.xml" Id="R3a9f1e8bedce4b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d2313165e4cd4" /><Relationship Type="http://schemas.openxmlformats.org/officeDocument/2006/relationships/notesMaster" Target="/ppt/notesMasters/notesMaster1.xml" Id="R31d60edeb5b049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a9b0fabe643dc" /><Relationship Type="http://schemas.openxmlformats.org/officeDocument/2006/relationships/notesMaster" Target="/ppt/notesMasters/notesMaster1.xml" Id="R3d43cf261968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ITC 353 Project 1. Supplied NYC311_April2025_RawSample.csv. All analysis executed in base R 4.6.1. AI assistance disclosed in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overview and R outputs cleaning.csv, split_summary.csv. NYC 311 FAQ https://www.nyc.gov/site/311reporting/faq/faq.page and service request guidance https://portal.311.nyc.gov/article/?kanumber=KA-03116 accessed September 26, 2026. Closure does not establish that an issue was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analysis/tables/duration_summary.csv, 39,668 eligible requests. 677 zero-hour durations retained; 2,930 over 30 days. Chart values in hours.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NYC311_Analysis.R. 70/30 random split, seed 353: 27,767 training and 11,901 validation. Predictors: grouped problem, borough, channel, weekday, hour_sin and hour_cos. Problem levels with fewer than 100 training rows pooled; channel rare fallback to mode. Slow thresholds estimated on training original problem types; fewer than 30 records uses global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analysis/tables/linear_metrics.csv, linear_baseline_log.csv and hours_metrics.csv. Validation RMSE log1p-hours 1.308899; training 1.293800. Baseline log RMSE 2.238796. Predictive R-squared .6581893. Hour predictions use Duan smearing estimated from training residuals. Hour MAE 316.65 versus baseline 392.31.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analysis/tables/classification_metrics.csv and model_extras.csv. Validation n=11,901; cutoff=.25; TN=4997, FP=3789, FN=1550, TP=1565. AUC=.554211. At .50: no flags, accuracy=.7382573 and recall=0. Cutoff .25 chosen as screening assumption, not tuned on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analysis/tables/optional_borough_monitor.csv. Validation flag rates at .25. Group case mix and calibration may contribute; chart does not establish causality or discrimination. Bronx n=2288; Brooklyn=3748; Manhattan=2480; Queens=2958; Staten Island=427.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derived from weak AUC, low precision, hour-scale errors, sampling limitations, and borough monitoring. No operational impact has been demonstrated. This is a classroom analysis, not an endorsed or deployed NYC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sample and analysis. Unknown sampling method; April boundary days underrepresented. Random split may not isolate related requests. Definition is relative, not an official SLA. Tool use: base R for all statistics; AI-assisted code and reporting; independent metric checks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4a620be62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2bc052f25423b" /><Relationship Type="http://schemas.openxmlformats.org/officeDocument/2006/relationships/slideLayout" Target="/ppt/slideLayouts/slideLayout1.xml" Id="R6ee7c10899d9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e7c10899d9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db6ef29644e5" /><Relationship Type="http://schemas.openxmlformats.org/officeDocument/2006/relationships/notesSlide" Target="/ppt/notesSlides/notesSlide1.xml" Id="R30ce650872614c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0c05a84414b31" /><Relationship Type="http://schemas.openxmlformats.org/officeDocument/2006/relationships/notesSlide" Target="/ppt/notesSlides/notesSlide2.xml" Id="R2c00ca195721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d76f6afe4ef4" /><Relationship Type="http://schemas.openxmlformats.org/officeDocument/2006/relationships/chart" Target="/ppt/slides/charts/chart1.xml" Id="Re2c9f793dde742e3" /><Relationship Type="http://schemas.openxmlformats.org/officeDocument/2006/relationships/notesSlide" Target="/ppt/notesSlides/notesSlide3.xml" Id="R148e206bbb0040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521a42e104373" /><Relationship Type="http://schemas.openxmlformats.org/officeDocument/2006/relationships/notesSlide" Target="/ppt/notesSlides/notesSlide4.xml" Id="R71a4f1593f3d43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1ff42477344f2" /><Relationship Type="http://schemas.openxmlformats.org/officeDocument/2006/relationships/chart" Target="/ppt/slides/charts/chart2.xml" Id="Re7809a55d5a846d4" /><Relationship Type="http://schemas.openxmlformats.org/officeDocument/2006/relationships/notesSlide" Target="/ppt/notesSlides/notesSlide5.xml" Id="R0c4c9b039223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20ba6d6774623" /><Relationship Type="http://schemas.openxmlformats.org/officeDocument/2006/relationships/chart" Target="/ppt/slides/charts/chart3.xml" Id="R6efc8db04826437b" /><Relationship Type="http://schemas.openxmlformats.org/officeDocument/2006/relationships/notesSlide" Target="/ppt/notesSlides/notesSlide6.xml" Id="Rb63256d1f55f46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efa023492453d" /><Relationship Type="http://schemas.openxmlformats.org/officeDocument/2006/relationships/chart" Target="/ppt/slides/charts/chart4.xml" Id="R8ac29ff89d654641" /><Relationship Type="http://schemas.openxmlformats.org/officeDocument/2006/relationships/notesSlide" Target="/ppt/notesSlides/notesSlide7.xml" Id="R296b73b2dd7a4b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b9780f924656" /><Relationship Type="http://schemas.openxmlformats.org/officeDocument/2006/relationships/notesSlide" Target="/ppt/notesSlides/notesSlide8.xml" Id="Rc0347202571547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16921aa9a4e86" /><Relationship Type="http://schemas.openxmlformats.org/officeDocument/2006/relationships/notesSlide" Target="/ppt/notesSlides/notesSlide9.xml" Id="R6c1dcffe6f43402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Median</c:v>
                </c:pt>
                <c:pt idx="1">
                  <c:v>Mean</c:v>
                </c:pt>
                <c:pt idx="2">
                  <c:v>95th percentile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6.6816666667</c:v>
                </c:pt>
                <c:pt idx="1">
                  <c:v>251.355594</c:v>
                </c:pt>
                <c:pt idx="2">
                  <c:v>1251.437111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 RMSE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Data'!$A$2:$A$3</c:f>
              <c:strCache>
                <c:ptCount val="2"/>
                <c:pt idx="0">
                  <c:v>Mean baseline</c:v>
                </c:pt>
                <c:pt idx="1">
                  <c:v>Converted linear model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970.9672</c:v>
                </c:pt>
                <c:pt idx="1">
                  <c:v>1373.1778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Recall %</c:v>
                </c:pt>
                <c:pt idx="1">
                  <c:v>Precision %</c:v>
                </c:pt>
                <c:pt idx="2">
                  <c:v>Requests flagged %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50.24077</c:v>
                </c:pt>
                <c:pt idx="1">
                  <c:v>29.23048</c:v>
                </c:pt>
                <c:pt idx="2">
                  <c:v>44.98782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Flag rate %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99.43182</c:v>
                </c:pt>
                <c:pt idx="1">
                  <c:v>20.9445</c:v>
                </c:pt>
                <c:pt idx="2">
                  <c:v>37.37903</c:v>
                </c:pt>
                <c:pt idx="3">
                  <c:v>46.04462</c:v>
                </c:pt>
                <c:pt idx="4">
                  <c:v>1.17096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187CF-EC32-49AB-A997-42B9316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closure delay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3E2DE-28A4-407C-8FB9-2AEDD20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April 2025 sample | ITC 353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9F8D7-67F9-47C9-A330-465CE6C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Evidence for monitoring and follow-up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A242-3A54-4679-9704-09E768D6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Analytics Student</a:t>
            </a:r>
          </a:p>
        </p:txBody>
      </p:sp>
    </p:spTree>
    <p:extLst>
      <p:ext uri="{BB962C8B-B14F-4D97-AF65-F5344CB8AC3E}">
        <p14:creationId xmlns:p14="http://schemas.microsoft.com/office/powerpoint/2010/main" val="802042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4003-3BD5-4398-9B37-9A14B1A6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Operational decision and data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ED16-265E-40B5-9EF4-60B6EFB7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Which incoming requests may need extra follow-up?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3D52B-3842-4E3D-A37F-5E6BEA02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40,000 records; 39,668 have usable closure durations.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8B04B-54A4-456B-BF60-52FB22C0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All are labeled Closed. Still-open requests may be absent.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8A1D1-4268-4446-B0E6-4758FF3B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Recorded closure is not proof that the issue was resolved.</a:t>
            </a:r>
          </a:p>
        </p:txBody>
      </p:sp>
    </p:spTree>
    <p:extLst>
      <p:ext uri="{BB962C8B-B14F-4D97-AF65-F5344CB8AC3E}">
        <p14:creationId xmlns:p14="http://schemas.microsoft.com/office/powerpoint/2010/main" val="794526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552EC-63D4-4983-8F31-A1ED84EA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Closure times have a long upper tail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c9f793dde742e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7418B-65BF-475D-AEE3-091BD651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Hours to recorded closure. 2,930 requests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186742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6E165-7416-41D6-B3E3-056B4E7C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Modeling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931E1-9F08-4A79-9145-5E4BAA51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Two models: closure duration and probability of being slow.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73F1C-01D1-4238-A2FA-2752EF7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 means above a problem type’s training 75th percentile.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6C328-8EB9-475A-83DB-1D49866C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70% training / 30% validation; preprocessing uses training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82AA8-67D1-4573-ACCD-5859E443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Predictors use submission context; later outcomes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648599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05DDF-1CA7-482C-9B26-F401E41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Log-scale fit does not ensure accurate hours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809a55d5a846d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B391-7D5C-43E6-AE6C-29A58B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 RMSE is worse than the baseline. Avoid completion-time promises.</a:t>
            </a:r>
          </a:p>
        </p:txBody>
      </p:sp>
    </p:spTree>
    <p:extLst>
      <p:ext uri="{BB962C8B-B14F-4D97-AF65-F5344CB8AC3E}">
        <p14:creationId xmlns:p14="http://schemas.microsoft.com/office/powerpoint/2010/main" val="2119348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74959-9438-4706-968F-7FE2A9D5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Slow-request detection is weak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fc8db04826437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6F6D2-1BBF-4F2B-AB6E-DDBBB67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About half of slow requests are missed; most flags are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879917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90F12-DBDE-47BD-AFE3-DABAE718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cutoff creates uneven borough workloads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c29ff89d65464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B5344-BA89-4216-A044-D68161A8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Flag rates in validation, %. Review subgroup errors before any pilot.</a:t>
            </a:r>
          </a:p>
        </p:txBody>
      </p:sp>
    </p:spTree>
    <p:extLst>
      <p:ext uri="{BB962C8B-B14F-4D97-AF65-F5344CB8AC3E}">
        <p14:creationId xmlns:p14="http://schemas.microsoft.com/office/powerpoint/2010/main" val="1056914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C1207-E68E-4462-A951-D0EAA19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Recommendation for city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537F9-1DC0-4A1B-A672-B0827129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Do not automate prioritization with the current classifier.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8F2D4-A182-4DA6-A94B-A737A96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Investigate long closure workflows and missing timestamps.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D439A-37EF-46EA-A8DF-118F83E1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Test later-month data, including requests that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2658A-954F-413E-84AE-2F46F554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If piloted, use staff review and explicit limits on alert workload.</a:t>
            </a:r>
          </a:p>
        </p:txBody>
      </p:sp>
    </p:spTree>
    <p:extLst>
      <p:ext uri="{BB962C8B-B14F-4D97-AF65-F5344CB8AC3E}">
        <p14:creationId xmlns:p14="http://schemas.microsoft.com/office/powerpoint/2010/main" val="1934080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DF86-F565-4652-B32A-2C8136E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Limits and 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7C447-C7E6-4287-AC2B-2B86275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month and an unknown sampling method limit generalization.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26A2A-B24D-49B5-A794-9296547E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Relative slow status is not an official service deadline.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550D9-9E97-49B6-AFA2-75D9D91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Compare against simple rules and review errors by problem and borough.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1BF6-B1C2-4B9D-8E68-618E18E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Urgency and service obligations must remain ahead of model scores.</a:t>
            </a:r>
          </a:p>
        </p:txBody>
      </p:sp>
    </p:spTree>
    <p:extLst>
      <p:ext uri="{BB962C8B-B14F-4D97-AF65-F5344CB8AC3E}">
        <p14:creationId xmlns:p14="http://schemas.microsoft.com/office/powerpoint/2010/main" val="1056601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2026-09-26T21:04:09.0700000Z</dcterms:created>
  <dcterms:modified xsi:type="dcterms:W3CDTF">2026-09-26T21:04:09.0700000Z</dcterms:modified>
</coreProperties>
</file>