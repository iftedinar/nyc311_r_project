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C330A-69B6-49E1-B82B-B49BA4E5650E}" v="5" dt="2026-09-27T22:43:46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ar, Iftekhar" userId="196d32be-e32b-4fab-a87f-fbae278735f1" providerId="ADAL" clId="{F89CBFDC-E269-4643-902E-6E2276C30011}"/>
    <pc:docChg chg="custSel addSld modSld">
      <pc:chgData name="Dinar, Iftekhar" userId="196d32be-e32b-4fab-a87f-fbae278735f1" providerId="ADAL" clId="{F89CBFDC-E269-4643-902E-6E2276C30011}" dt="2026-09-27T22:43:46.707" v="162"/>
      <pc:docMkLst>
        <pc:docMk/>
      </pc:docMkLst>
      <pc:sldChg chg="delSp modSp mod">
        <pc:chgData name="Dinar, Iftekhar" userId="196d32be-e32b-4fab-a87f-fbae278735f1" providerId="ADAL" clId="{F89CBFDC-E269-4643-902E-6E2276C30011}" dt="2026-09-27T22:12:13.991" v="120" actId="20577"/>
        <pc:sldMkLst>
          <pc:docMk/>
          <pc:sldMk cId="630294528" sldId="256"/>
        </pc:sldMkLst>
        <pc:spChg chg="mod">
          <ac:chgData name="Dinar, Iftekhar" userId="196d32be-e32b-4fab-a87f-fbae278735f1" providerId="ADAL" clId="{F89CBFDC-E269-4643-902E-6E2276C30011}" dt="2026-09-27T22:11:29.558" v="97" actId="20577"/>
          <ac:spMkLst>
            <pc:docMk/>
            <pc:sldMk cId="630294528" sldId="256"/>
            <ac:spMk id="2" creationId="{B6E6AA55-3731-49CE-A39D-AA81E7BA612C}"/>
          </ac:spMkLst>
        </pc:spChg>
        <pc:spChg chg="del mod">
          <ac:chgData name="Dinar, Iftekhar" userId="196d32be-e32b-4fab-a87f-fbae278735f1" providerId="ADAL" clId="{F89CBFDC-E269-4643-902E-6E2276C30011}" dt="2026-09-27T22:11:15.981" v="79" actId="478"/>
          <ac:spMkLst>
            <pc:docMk/>
            <pc:sldMk cId="630294528" sldId="256"/>
            <ac:spMk id="3" creationId="{49F34980-881F-4D87-A5B3-A892FAA25F43}"/>
          </ac:spMkLst>
        </pc:spChg>
        <pc:spChg chg="del mod">
          <ac:chgData name="Dinar, Iftekhar" userId="196d32be-e32b-4fab-a87f-fbae278735f1" providerId="ADAL" clId="{F89CBFDC-E269-4643-902E-6E2276C30011}" dt="2026-09-27T22:11:21.775" v="81" actId="478"/>
          <ac:spMkLst>
            <pc:docMk/>
            <pc:sldMk cId="630294528" sldId="256"/>
            <ac:spMk id="4" creationId="{989B7432-A713-4A36-8B44-EEFFAE42DD40}"/>
          </ac:spMkLst>
        </pc:spChg>
        <pc:spChg chg="mod">
          <ac:chgData name="Dinar, Iftekhar" userId="196d32be-e32b-4fab-a87f-fbae278735f1" providerId="ADAL" clId="{F89CBFDC-E269-4643-902E-6E2276C30011}" dt="2026-09-27T22:12:13.991" v="120" actId="20577"/>
          <ac:spMkLst>
            <pc:docMk/>
            <pc:sldMk cId="630294528" sldId="256"/>
            <ac:spMk id="5" creationId="{A3F024B6-9534-4DE7-841F-DA0E25AFB9D6}"/>
          </ac:spMkLst>
        </pc:spChg>
      </pc:sldChg>
      <pc:sldChg chg="modSp">
        <pc:chgData name="Dinar, Iftekhar" userId="196d32be-e32b-4fab-a87f-fbae278735f1" providerId="ADAL" clId="{F89CBFDC-E269-4643-902E-6E2276C30011}" dt="2026-09-27T22:43:46.707" v="162"/>
        <pc:sldMkLst>
          <pc:docMk/>
          <pc:sldMk cId="1642488535" sldId="258"/>
        </pc:sldMkLst>
        <pc:graphicFrameChg chg="mod">
          <ac:chgData name="Dinar, Iftekhar" userId="196d32be-e32b-4fab-a87f-fbae278735f1" providerId="ADAL" clId="{F89CBFDC-E269-4643-902E-6E2276C30011}" dt="2026-09-27T22:43:46.707" v="162"/>
          <ac:graphicFrameMkLst>
            <pc:docMk/>
            <pc:sldMk cId="1642488535" sldId="258"/>
            <ac:graphicFrameMk id="5" creationId="{00000000-0000-0000-0000-000000000000}"/>
          </ac:graphicFrameMkLst>
        </pc:graphicFrameChg>
      </pc:sldChg>
      <pc:sldChg chg="delSp modSp mod">
        <pc:chgData name="Dinar, Iftekhar" userId="196d32be-e32b-4fab-a87f-fbae278735f1" providerId="ADAL" clId="{F89CBFDC-E269-4643-902E-6E2276C30011}" dt="2026-09-27T22:09:15.243" v="4" actId="478"/>
        <pc:sldMkLst>
          <pc:docMk/>
          <pc:sldMk cId="1975147892" sldId="264"/>
        </pc:sldMkLst>
        <pc:spChg chg="mod">
          <ac:chgData name="Dinar, Iftekhar" userId="196d32be-e32b-4fab-a87f-fbae278735f1" providerId="ADAL" clId="{F89CBFDC-E269-4643-902E-6E2276C30011}" dt="2026-09-27T22:08:47.533" v="0"/>
          <ac:spMkLst>
            <pc:docMk/>
            <pc:sldMk cId="1975147892" sldId="264"/>
            <ac:spMk id="2" creationId="{D5A09767-BC87-4575-880E-DA7A261AA958}"/>
          </ac:spMkLst>
        </pc:spChg>
        <pc:spChg chg="mod">
          <ac:chgData name="Dinar, Iftekhar" userId="196d32be-e32b-4fab-a87f-fbae278735f1" providerId="ADAL" clId="{F89CBFDC-E269-4643-902E-6E2276C30011}" dt="2026-09-27T22:09:00.016" v="1"/>
          <ac:spMkLst>
            <pc:docMk/>
            <pc:sldMk cId="1975147892" sldId="264"/>
            <ac:spMk id="3" creationId="{DF259E60-1156-4760-A5E7-4537E5B839E9}"/>
          </ac:spMkLst>
        </pc:spChg>
        <pc:spChg chg="mod">
          <ac:chgData name="Dinar, Iftekhar" userId="196d32be-e32b-4fab-a87f-fbae278735f1" providerId="ADAL" clId="{F89CBFDC-E269-4643-902E-6E2276C30011}" dt="2026-09-27T22:09:10.505" v="2"/>
          <ac:spMkLst>
            <pc:docMk/>
            <pc:sldMk cId="1975147892" sldId="264"/>
            <ac:spMk id="4" creationId="{71DDAD04-1D5C-4E90-ACE7-E59BD80FD023}"/>
          </ac:spMkLst>
        </pc:spChg>
        <pc:spChg chg="del mod">
          <ac:chgData name="Dinar, Iftekhar" userId="196d32be-e32b-4fab-a87f-fbae278735f1" providerId="ADAL" clId="{F89CBFDC-E269-4643-902E-6E2276C30011}" dt="2026-09-27T22:09:15.243" v="4" actId="478"/>
          <ac:spMkLst>
            <pc:docMk/>
            <pc:sldMk cId="1975147892" sldId="264"/>
            <ac:spMk id="5" creationId="{2018A7FE-2212-45C3-9047-8BED1D3ABF33}"/>
          </ac:spMkLst>
        </pc:spChg>
      </pc:sldChg>
      <pc:sldChg chg="addSp modSp new mod">
        <pc:chgData name="Dinar, Iftekhar" userId="196d32be-e32b-4fab-a87f-fbae278735f1" providerId="ADAL" clId="{F89CBFDC-E269-4643-902E-6E2276C30011}" dt="2026-09-27T22:23:47.048" v="161" actId="20577"/>
        <pc:sldMkLst>
          <pc:docMk/>
          <pc:sldMk cId="114521130" sldId="265"/>
        </pc:sldMkLst>
        <pc:spChg chg="add mod">
          <ac:chgData name="Dinar, Iftekhar" userId="196d32be-e32b-4fab-a87f-fbae278735f1" providerId="ADAL" clId="{F89CBFDC-E269-4643-902E-6E2276C30011}" dt="2026-09-27T22:23:47.048" v="161" actId="20577"/>
          <ac:spMkLst>
            <pc:docMk/>
            <pc:sldMk cId="114521130" sldId="265"/>
            <ac:spMk id="2" creationId="{B30D28D5-9887-7656-5145-5E6ACD3BF6A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7539680267239328E-2"/>
          <c:y val="4.9666528526039505E-2"/>
          <c:w val="0.90670274397518491"/>
          <c:h val="0.820111617626744"/>
        </c:manualLayout>
      </c:layout>
      <c:barChart>
        <c:barDir val="col"/>
        <c:grouping val="clustered"/>
        <c:varyColors val="0"/>
        <c:ser>
          <c:idx val="0"/>
          <c:order val="0"/>
          <c:tx>
            <c:v>Hours</c:v>
          </c:tx>
          <c:spPr>
            <a:solidFill>
              <a:srgbClr val="287D8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243746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Median</c:v>
                </c:pt>
                <c:pt idx="1">
                  <c:v>Mean</c:v>
                </c:pt>
                <c:pt idx="2">
                  <c:v>95th percentile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6.6816666667</c:v>
                </c:pt>
                <c:pt idx="1">
                  <c:v>251.355594</c:v>
                </c:pt>
                <c:pt idx="2">
                  <c:v>1251.437111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5B0-4B82-94D9-2E80B344C4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Hour RMSE</c:v>
          </c:tx>
          <c:spPr>
            <a:solidFill>
              <a:srgbClr val="287D8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243746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Mean baseline</c:v>
                </c:pt>
                <c:pt idx="1">
                  <c:v>Converted linear model</c:v>
                </c:pt>
              </c:strCache>
            </c:strRef>
          </c:cat>
          <c:val>
            <c:numRef>
              <c:f>'Chart Data'!$B$2:$B$3</c:f>
              <c:numCache>
                <c:formatCode>#,##0.0</c:formatCode>
                <c:ptCount val="2"/>
                <c:pt idx="0">
                  <c:v>970.96720000000005</c:v>
                </c:pt>
                <c:pt idx="1">
                  <c:v>1373.1777999999999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612-4ADB-A88E-EA9A2D88C7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Percent</c:v>
          </c:tx>
          <c:spPr>
            <a:solidFill>
              <a:srgbClr val="287D8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243746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Recall %</c:v>
                </c:pt>
                <c:pt idx="1">
                  <c:v>Precision %</c:v>
                </c:pt>
                <c:pt idx="2">
                  <c:v>Requests flagged %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50.240769999999998</c:v>
                </c:pt>
                <c:pt idx="1">
                  <c:v>29.23048</c:v>
                </c:pt>
                <c:pt idx="2">
                  <c:v>44.987819999999999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E32-4A88-9AC0-D8ED8F44E8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Flag rate %</c:v>
          </c:tx>
          <c:spPr>
            <a:solidFill>
              <a:srgbClr val="287D8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243746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'Chart Data'!$B$2:$B$6</c:f>
              <c:numCache>
                <c:formatCode>#,##0.0</c:formatCode>
                <c:ptCount val="5"/>
                <c:pt idx="0">
                  <c:v>99.431820000000002</c:v>
                </c:pt>
                <c:pt idx="1">
                  <c:v>20.944500000000001</c:v>
                </c:pt>
                <c:pt idx="2">
                  <c:v>37.37903</c:v>
                </c:pt>
                <c:pt idx="3">
                  <c:v>46.044620000000002</c:v>
                </c:pt>
                <c:pt idx="4">
                  <c:v>1.17096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4B9-4568-9D11-9604D74463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ITC 353 Project 1. Supplied NYC311_April2025_RawSample.csv. All analysis executed in base R 4.6.1. AI assistance disclosed in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supplied overview and R outputs cleaning.csv, split_summary.csv. NYC 311 FAQ https://www.nyc.gov/site/311reporting/faq/faq.page and service request guidance https://portal.311.nyc.gov/article/?kanumber=KA-03116 accessed September 26, 2026. Closure does not establish that an issue was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analysis/tables/duration_summary.csv, 39,668 eligible requests. 677 zero-hour durations retained; 2,930 over 30 days. Chart values in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NYC311_Analysis.R. 70/30 random split, seed 353: 27,767 training and 11,901 validation. Predictors: grouped problem, borough, channel, weekday, hour_sin and hour_cos. Problem levels with fewer than 100 training rows pooled; channel rare fallback to mode. Slow thresholds estimated on training original problem types; fewer than 30 records uses global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analysis/tables/linear_metrics.csv, linear_baseline_log.csv and hours_metrics.csv. Validation RMSE log1p-hours 1.308899; training 1.293800. Baseline log RMSE 2.238796. Predictive R-squared .6581893. Hour predictions use Duan smearing estimated from training residuals. Hour MAE 316.65 versus baseline 392.31.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analysis/tables/classification_metrics.csv and model_extras.csv. Validation n=11,901; cutoff=.25; TN=4997, FP=3789, FN=1550, TP=1565. AUC=.554211. At .50: no flags, accuracy=.7382573 and recall=0. Cutoff .25 chosen as screening assumption, not tuned 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analysis/tables/optional_borough_monitor.csv. Validation flag rates at .25. Group case mix and calibration may contribute; chart does not establish causality or discrimination. Bronx n=2288; Brooklyn=3748; Manhattan=2480; Queens=2958; Staten Island=427.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Recommendation derived from weak AUC, low precision, hour-scale errors, sampling limitations, and borough monitoring. No operational impact has been demonstrated. This is a classroom analysis, not an endorsed or deployed NYC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supplied sample and analysis. Unknown sampling method; April boundary days underrepresented. Random split may not isolate related requests. Definition is relative, not an official SLA. Tool use: base R for all statistics; AI-assisted code and reporting; independent metric checks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F024B6-9534-4DE7-841F-DA0E25AFB9D6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</a:t>
            </a:r>
            <a:r>
              <a:rPr lang="en-US" sz="3150" b="1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Service Requests</a:t>
            </a:r>
            <a:r>
              <a:rPr sz="3150" b="1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150" b="1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D</a:t>
            </a:r>
            <a:r>
              <a:rPr sz="3150" b="1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elay </a:t>
            </a:r>
            <a:r>
              <a:rPr lang="en-US" sz="3150" b="1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P</a:t>
            </a:r>
            <a:r>
              <a:rPr sz="3150" b="1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rediction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E6AA55-3731-49CE-A39D-AA81E7BA612C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lang="en-US" sz="2550" b="0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Student Name : Iftekhar Dinar</a:t>
            </a:r>
          </a:p>
          <a:p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 sz="2550" dirty="0">
              <a:solidFill>
                <a:srgbClr val="243746"/>
              </a:solidFill>
              <a:latin typeface="Calibri"/>
              <a:ea typeface="Calibri"/>
              <a:cs typeface="Calibri"/>
            </a:endParaRPr>
          </a:p>
          <a:p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lang="en-US" sz="2550" b="0" dirty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Class : ITC 353</a:t>
            </a:r>
          </a:p>
          <a:p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 sz="2550" dirty="0">
              <a:solidFill>
                <a:srgbClr val="243746"/>
              </a:solidFill>
              <a:latin typeface="Calibri"/>
              <a:ea typeface="Calibri"/>
              <a:cs typeface="Calibri"/>
            </a:endParaRPr>
          </a:p>
          <a:p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 sz="2550" b="0" dirty="0">
              <a:solidFill>
                <a:srgbClr val="243746"/>
              </a:solidFill>
              <a:latin typeface="Calibri"/>
              <a:ea typeface="Calibri"/>
              <a:cs typeface="Calibri"/>
            </a:endParaRPr>
          </a:p>
          <a:p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lang="en-US" sz="2550" dirty="0">
              <a:solidFill>
                <a:srgbClr val="243746"/>
              </a:solidFill>
              <a:latin typeface="Calibri"/>
              <a:ea typeface="Calibri"/>
              <a:cs typeface="Calibri"/>
            </a:endParaRPr>
          </a:p>
          <a:p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endParaRPr sz="2550" b="0" dirty="0">
              <a:solidFill>
                <a:srgbClr val="243746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029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322C2E-0B44-4C8A-9EC5-7AF3F582B38C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Operational decision and data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266E81-D16F-4BBF-A79A-F73F570C3A4A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Which incoming requests may need extra follow-up?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8546A2-DD8D-48BA-8077-E48149D9BAA5}"/>
              </a:ext>
            </a:extLst>
          </p:cNvPr>
          <p:cNvSpPr>
            <a:spLocks noGrp="1"/>
          </p:cNvSpPr>
          <p:nvPr/>
        </p:nvSpPr>
        <p:spPr>
          <a:xfrm>
            <a:off x="762000" y="27336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40,000 records; 39,668 have usable closure durations.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E267A0-9C48-4CAE-8149-B7D647BD2D0D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All are labeled Closed. Still-open requests may be absent.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532DCD-9B21-457E-9E1E-34F1EA007D68}"/>
              </a:ext>
            </a:extLst>
          </p:cNvPr>
          <p:cNvSpPr>
            <a:spLocks noGrp="1"/>
          </p:cNvSpPr>
          <p:nvPr/>
        </p:nvSpPr>
        <p:spPr>
          <a:xfrm>
            <a:off x="762000" y="48672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Recorded closure is not proof that the issue was resolved.</a:t>
            </a:r>
          </a:p>
        </p:txBody>
      </p:sp>
    </p:spTree>
    <p:extLst>
      <p:ext uri="{BB962C8B-B14F-4D97-AF65-F5344CB8AC3E}">
        <p14:creationId xmlns:p14="http://schemas.microsoft.com/office/powerpoint/2010/main" val="79870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60BCEB-ED6C-43C0-890C-75CEAF260481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Closure times have a long upper tail</a:t>
            </a:r>
          </a:p>
        </p:txBody>
      </p:sp>
      <p:graphicFrame>
        <p:nvGraphicFramePr>
          <p:cNvPr id="5" name="Chart"/>
          <p:cNvGraphicFramePr/>
          <p:nvPr>
            <p:extLst>
              <p:ext uri="{D42A27DB-BD31-4B8C-83A1-F6EECF244321}">
                <p14:modId xmlns:p14="http://schemas.microsoft.com/office/powerpoint/2010/main" val="1631293209"/>
              </p:ext>
            </p:extLst>
          </p:nvPr>
        </p:nvGraphicFramePr>
        <p:xfrm>
          <a:off x="762000" y="1619250"/>
          <a:ext cx="104775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ED2CED2-8732-4A77-B44E-75BFD920F1F4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Hours to recorded closure. 2,930 requests exceed 30 days.</a:t>
            </a:r>
          </a:p>
        </p:txBody>
      </p:sp>
    </p:spTree>
    <p:extLst>
      <p:ext uri="{BB962C8B-B14F-4D97-AF65-F5344CB8AC3E}">
        <p14:creationId xmlns:p14="http://schemas.microsoft.com/office/powerpoint/2010/main" val="164248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0BE1CAE-0A0E-451D-A774-ED2F666ED030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Modeling and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F70495-5ABB-4076-BDCE-B0ADDFAD6AB9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Two models: closure duration and probability of being slow.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555C38-EA36-40E8-AA0C-AEE927BD0FD0}"/>
              </a:ext>
            </a:extLst>
          </p:cNvPr>
          <p:cNvSpPr>
            <a:spLocks noGrp="1"/>
          </p:cNvSpPr>
          <p:nvPr/>
        </p:nvSpPr>
        <p:spPr>
          <a:xfrm>
            <a:off x="762000" y="27336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 means above a problem type’s training 75th percentile.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BA8220-4B6E-4089-BFC5-637835ADD719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70% training / 30% validation; preprocessing uses training only.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7500E1-1807-494A-8957-D2799306C146}"/>
              </a:ext>
            </a:extLst>
          </p:cNvPr>
          <p:cNvSpPr>
            <a:spLocks noGrp="1"/>
          </p:cNvSpPr>
          <p:nvPr/>
        </p:nvSpPr>
        <p:spPr>
          <a:xfrm>
            <a:off x="762000" y="48672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Predictors use submission context; later outcomes are excluded.</a:t>
            </a:r>
          </a:p>
        </p:txBody>
      </p:sp>
    </p:spTree>
    <p:extLst>
      <p:ext uri="{BB962C8B-B14F-4D97-AF65-F5344CB8AC3E}">
        <p14:creationId xmlns:p14="http://schemas.microsoft.com/office/powerpoint/2010/main" val="203782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6FE9CD-2BBB-4A92-B84D-2C4C4797F0CB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Log-scale fit does not ensure accurate hours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762000" y="1619250"/>
          <a:ext cx="104775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2CCE3D7-1B6B-41CB-9DEB-6537E0FA3F7B}"/>
              </a:ext>
            </a:extLst>
          </p:cNvPr>
          <p:cNvSpPr>
            <a:spLocks noGrp="1"/>
          </p:cNvSpPr>
          <p:nvPr/>
        </p:nvSpPr>
        <p:spPr>
          <a:xfrm>
            <a:off x="762000" y="557212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 RMSE is worse than the baseline. Avoid completion-time promises.</a:t>
            </a:r>
          </a:p>
        </p:txBody>
      </p:sp>
    </p:spTree>
    <p:extLst>
      <p:ext uri="{BB962C8B-B14F-4D97-AF65-F5344CB8AC3E}">
        <p14:creationId xmlns:p14="http://schemas.microsoft.com/office/powerpoint/2010/main" val="854812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1A8DE1-2A87-4569-9B0E-6A5D34788231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Slow-request detection is weak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762000" y="1619250"/>
          <a:ext cx="104775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264EAB7-70F6-4718-9445-DD9E5CC221B9}"/>
              </a:ext>
            </a:extLst>
          </p:cNvPr>
          <p:cNvSpPr>
            <a:spLocks noGrp="1"/>
          </p:cNvSpPr>
          <p:nvPr/>
        </p:nvSpPr>
        <p:spPr>
          <a:xfrm>
            <a:off x="762000" y="557212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About half of slow requests are missed; most flags are false alerts.</a:t>
            </a:r>
          </a:p>
        </p:txBody>
      </p:sp>
    </p:spTree>
    <p:extLst>
      <p:ext uri="{BB962C8B-B14F-4D97-AF65-F5344CB8AC3E}">
        <p14:creationId xmlns:p14="http://schemas.microsoft.com/office/powerpoint/2010/main" val="30135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45DE28-FC52-4BC1-9E30-4CA63CBC245B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cutoff creates uneven borough workloads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762000" y="1619250"/>
          <a:ext cx="104775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F96327C-8558-4E05-A673-D6D5CED554C7}"/>
              </a:ext>
            </a:extLst>
          </p:cNvPr>
          <p:cNvSpPr>
            <a:spLocks noGrp="1"/>
          </p:cNvSpPr>
          <p:nvPr/>
        </p:nvSpPr>
        <p:spPr>
          <a:xfrm>
            <a:off x="762000" y="557212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Flag rates in validation, %. Review subgroup errors before any pilot.</a:t>
            </a:r>
          </a:p>
        </p:txBody>
      </p:sp>
    </p:spTree>
    <p:extLst>
      <p:ext uri="{BB962C8B-B14F-4D97-AF65-F5344CB8AC3E}">
        <p14:creationId xmlns:p14="http://schemas.microsoft.com/office/powerpoint/2010/main" val="91192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79042A-C158-43D5-99BC-7BF202C067D3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Recommendation for city operations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08FA05-8280-4161-BC41-9AA132105D94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Do not automate prioritization with the current classifier.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F018CF-B086-476D-97BA-9AA5A84650D5}"/>
              </a:ext>
            </a:extLst>
          </p:cNvPr>
          <p:cNvSpPr>
            <a:spLocks noGrp="1"/>
          </p:cNvSpPr>
          <p:nvPr/>
        </p:nvSpPr>
        <p:spPr>
          <a:xfrm>
            <a:off x="762000" y="27336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Investigate long closure workflows and missing timestamps.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B7100B-0E47-4D81-9249-9D8549DEFD99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Test later-month data, including requests that remain open.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9103D-03CA-454E-BCDC-F273FD03E229}"/>
              </a:ext>
            </a:extLst>
          </p:cNvPr>
          <p:cNvSpPr>
            <a:spLocks noGrp="1"/>
          </p:cNvSpPr>
          <p:nvPr/>
        </p:nvSpPr>
        <p:spPr>
          <a:xfrm>
            <a:off x="762000" y="48672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If piloted, use staff review and explicit limits on alert workload.</a:t>
            </a:r>
          </a:p>
        </p:txBody>
      </p:sp>
    </p:spTree>
    <p:extLst>
      <p:ext uri="{BB962C8B-B14F-4D97-AF65-F5344CB8AC3E}">
        <p14:creationId xmlns:p14="http://schemas.microsoft.com/office/powerpoint/2010/main" val="2036405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9F73E8-68ED-42F5-997D-B1A23C65EDE3}"/>
              </a:ext>
            </a:extLst>
          </p:cNvPr>
          <p:cNvSpPr>
            <a:spLocks noGrp="1"/>
          </p:cNvSpPr>
          <p:nvPr/>
        </p:nvSpPr>
        <p:spPr>
          <a:xfrm>
            <a:off x="619125" y="428625"/>
            <a:ext cx="109537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Limits and next 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09767-BC87-4575-880E-DA7A261AA958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lang="en-US" sz="2250" dirty="0">
                <a:solidFill>
                  <a:srgbClr val="243746"/>
                </a:solidFill>
                <a:latin typeface="Calibri"/>
              </a:rPr>
              <a:t>One supplied month and unknown sampling method</a:t>
            </a:r>
            <a:endParaRPr sz="2250" b="0" dirty="0">
              <a:solidFill>
                <a:srgbClr val="2437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259E60-1156-4760-A5E7-4537E5B839E9}"/>
              </a:ext>
            </a:extLst>
          </p:cNvPr>
          <p:cNvSpPr>
            <a:spLocks noGrp="1"/>
          </p:cNvSpPr>
          <p:nvPr/>
        </p:nvSpPr>
        <p:spPr>
          <a:xfrm>
            <a:off x="762000" y="27336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lang="en-US" sz="2250" dirty="0">
                <a:solidFill>
                  <a:srgbClr val="243746"/>
                </a:solidFill>
                <a:latin typeface="Calibri"/>
              </a:rPr>
              <a:t>All records marked Closed</a:t>
            </a:r>
            <a:endParaRPr sz="2250" b="0" dirty="0">
              <a:solidFill>
                <a:srgbClr val="2437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DDAD04-1D5C-4E90-ACE7-E59BD80FD023}"/>
              </a:ext>
            </a:extLst>
          </p:cNvPr>
          <p:cNvSpPr>
            <a:spLocks noGrp="1"/>
          </p:cNvSpPr>
          <p:nvPr/>
        </p:nvSpPr>
        <p:spPr>
          <a:xfrm>
            <a:off x="762000" y="380047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lang="en-US" sz="2250" dirty="0">
                <a:solidFill>
                  <a:srgbClr val="243746"/>
                </a:solidFill>
                <a:latin typeface="Calibri"/>
              </a:rPr>
              <a:t>Random within-month holdout</a:t>
            </a:r>
            <a:endParaRPr sz="2250" b="0" dirty="0">
              <a:solidFill>
                <a:srgbClr val="243746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5147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D28D5-9887-7656-5145-5E6ACD3BF6AC}"/>
              </a:ext>
            </a:extLst>
          </p:cNvPr>
          <p:cNvSpPr txBox="1"/>
          <p:nvPr/>
        </p:nvSpPr>
        <p:spPr>
          <a:xfrm>
            <a:off x="1657350" y="1095375"/>
            <a:ext cx="1774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Sources :   </a:t>
            </a:r>
          </a:p>
        </p:txBody>
      </p:sp>
    </p:spTree>
    <p:extLst>
      <p:ext uri="{BB962C8B-B14F-4D97-AF65-F5344CB8AC3E}">
        <p14:creationId xmlns:p14="http://schemas.microsoft.com/office/powerpoint/2010/main" val="1145211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DocSecurity>0</DocSecurity>
  <PresentationFormat>Widescreen</PresentationFormat>
  <Paragraphs>43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Dinar, Iftekhar</cp:lastModifiedBy>
  <cp:revision>1</cp:revision>
  <dcterms:created xsi:type="dcterms:W3CDTF">2026-09-26T21:06:36Z</dcterms:created>
  <dcterms:modified xsi:type="dcterms:W3CDTF">2026-09-27T22:43:55Z</dcterms:modified>
</cp:coreProperties>
</file>