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d0a472fb994a8c" /><Relationship Type="http://schemas.openxmlformats.org/officeDocument/2006/relationships/extended-properties" Target="/docProps/app.xml" Id="R6f39675961a64538" /><Relationship Type="http://schemas.openxmlformats.org/officeDocument/2006/relationships/officeDocument" Target="/ppt/presentation.xml" Id="Reedd9779d17a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bc1649e2141e9"/>
  </p:sldMasterIdLst>
  <p:notesMasterIdLst>
    <p:notesMasterId xmlns:r="http://schemas.openxmlformats.org/officeDocument/2006/relationships" r:id="R33ddffc7487341ef"/>
  </p:notesMasterIdLst>
  <p:sldIdLst>
    <p:sldId xmlns:r="http://schemas.openxmlformats.org/officeDocument/2006/relationships" id="256" r:id="R92b3eac83d5b4126"/>
    <p:sldId xmlns:r="http://schemas.openxmlformats.org/officeDocument/2006/relationships" id="257" r:id="Rb31c24188d98415a"/>
    <p:sldId xmlns:r="http://schemas.openxmlformats.org/officeDocument/2006/relationships" id="258" r:id="R72c4d8cb99bc4975"/>
    <p:sldId xmlns:r="http://schemas.openxmlformats.org/officeDocument/2006/relationships" id="259" r:id="Rbbc7727819af4ccf"/>
    <p:sldId xmlns:r="http://schemas.openxmlformats.org/officeDocument/2006/relationships" id="260" r:id="R97f39819486843a3"/>
    <p:sldId xmlns:r="http://schemas.openxmlformats.org/officeDocument/2006/relationships" id="261" r:id="R5b81e978588c47de"/>
    <p:sldId xmlns:r="http://schemas.openxmlformats.org/officeDocument/2006/relationships" id="262" r:id="R2d04b62936af4b72"/>
    <p:sldId xmlns:r="http://schemas.openxmlformats.org/officeDocument/2006/relationships" id="263" r:id="R01f58745c4d744d9"/>
    <p:sldId xmlns:r="http://schemas.openxmlformats.org/officeDocument/2006/relationships" id="264" r:id="R20a3b0f57b574e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38538faa834d7d" /><Relationship Type="http://schemas.openxmlformats.org/officeDocument/2006/relationships/slideMaster" Target="/ppt/slideMasters/slideMaster1.xml" Id="Re45bc1649e2141e9" /><Relationship Type="http://schemas.openxmlformats.org/officeDocument/2006/relationships/notesMaster" Target="/ppt/notesMasters/notesMaster1.xml" Id="R33ddffc7487341ef" /><Relationship Type="http://schemas.openxmlformats.org/officeDocument/2006/relationships/presProps" Target="/ppt/presProps.xml" Id="R143f74d9612b48e3" /><Relationship Type="http://schemas.openxmlformats.org/officeDocument/2006/relationships/tableStyles" Target="/ppt/tableStyles.xml" Id="R303717c5cfe3452a" /><Relationship Type="http://schemas.openxmlformats.org/officeDocument/2006/relationships/slide" Target="/ppt/slides/slide1.xml" Id="R92b3eac83d5b4126" /><Relationship Type="http://schemas.openxmlformats.org/officeDocument/2006/relationships/slide" Target="/ppt/slides/slide2.xml" Id="Rb31c24188d98415a" /><Relationship Type="http://schemas.openxmlformats.org/officeDocument/2006/relationships/slide" Target="/ppt/slides/slide3.xml" Id="R72c4d8cb99bc4975" /><Relationship Type="http://schemas.openxmlformats.org/officeDocument/2006/relationships/slide" Target="/ppt/slides/slide4.xml" Id="Rbbc7727819af4ccf" /><Relationship Type="http://schemas.openxmlformats.org/officeDocument/2006/relationships/slide" Target="/ppt/slides/slide5.xml" Id="R97f39819486843a3" /><Relationship Type="http://schemas.openxmlformats.org/officeDocument/2006/relationships/slide" Target="/ppt/slides/slide6.xml" Id="R5b81e978588c47de" /><Relationship Type="http://schemas.openxmlformats.org/officeDocument/2006/relationships/slide" Target="/ppt/slides/slide7.xml" Id="R2d04b62936af4b72" /><Relationship Type="http://schemas.openxmlformats.org/officeDocument/2006/relationships/slide" Target="/ppt/slides/slide8.xml" Id="R01f58745c4d744d9" /><Relationship Type="http://schemas.openxmlformats.org/officeDocument/2006/relationships/slide" Target="/ppt/slides/slide9.xml" Id="R20a3b0f57b57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aa5d67106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7a36783444e1c" /><Relationship Type="http://schemas.openxmlformats.org/officeDocument/2006/relationships/notesMaster" Target="/ppt/notesMasters/notesMaster1.xml" Id="Ra57bfcee4c574c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d8da4b68b4a4c" /><Relationship Type="http://schemas.openxmlformats.org/officeDocument/2006/relationships/notesMaster" Target="/ppt/notesMasters/notesMaster1.xml" Id="Rf7813d79a9e8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cb572edca048e0" /><Relationship Type="http://schemas.openxmlformats.org/officeDocument/2006/relationships/notesMaster" Target="/ppt/notesMasters/notesMaster1.xml" Id="Rd4ac0e9433a8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786c0ae994eb5" /><Relationship Type="http://schemas.openxmlformats.org/officeDocument/2006/relationships/notesMaster" Target="/ppt/notesMasters/notesMaster1.xml" Id="R9a6a2939ef2847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b608964a64d86" /><Relationship Type="http://schemas.openxmlformats.org/officeDocument/2006/relationships/notesMaster" Target="/ppt/notesMasters/notesMaster1.xml" Id="R4542bea1b36941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d4069732c41e8" /><Relationship Type="http://schemas.openxmlformats.org/officeDocument/2006/relationships/notesMaster" Target="/ppt/notesMasters/notesMaster1.xml" Id="R4788be7fe53442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60b22f8e304e48" /><Relationship Type="http://schemas.openxmlformats.org/officeDocument/2006/relationships/notesMaster" Target="/ppt/notesMasters/notesMaster1.xml" Id="Rfc7e6d3030c4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7908a69754c1c" /><Relationship Type="http://schemas.openxmlformats.org/officeDocument/2006/relationships/notesMaster" Target="/ppt/notesMasters/notesMaster1.xml" Id="R49a0cee7f67c4e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c840f06bab4aef" /><Relationship Type="http://schemas.openxmlformats.org/officeDocument/2006/relationships/notesMaster" Target="/ppt/notesMasters/notesMaster1.xml" Id="Rc9e275413428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ITC 353 Project 1. Supplied NYC311_April2025_RawSample.csv. All analysis executed in base R 4.6.1. AI assistance disclosed in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overview and R outputs cleaning.csv, split_summary.csv. NYC 311 FAQ https://www.nyc.gov/site/311reporting/faq/faq.page and service request guidance https://portal.311.nyc.gov/article/?kanumber=KA-03116 accessed September 26, 2026. Closure does not establish that an issue was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analysis/tables/duration_summary.csv, 39,668 eligible requests. 677 zero-hour durations retained; 2,930 over 30 days. Chart values in hours.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NYC311_Analysis.R. 70/30 random split, seed 353: 27,767 training and 11,901 validation. Predictors: grouped problem, borough, channel, weekday, hour_sin and hour_cos. Problem levels with fewer than 100 training rows pooled; channel rare fallback to mode. Slow thresholds estimated on training original problem types; fewer than 30 records uses global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analysis/tables/linear_metrics.csv, linear_baseline_log.csv and hours_metrics.csv. Validation RMSE log1p-hours 1.308899; training 1.293800. Baseline log RMSE 2.238796. Predictive R-squared .6581893. Hour predictions use Duan smearing estimated from training residuals. Hour MAE 316.65 versus baseline 392.31.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analysis/tables/classification_metrics.csv and model_extras.csv. Validation n=11,901; cutoff=.25; TN=4997, FP=3789, FN=1550, TP=1565. AUC=.554211. At .50: no flags, accuracy=.7382573 and recall=0. Cutoff .25 chosen as screening assumption, not tuned on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analysis/tables/optional_borough_monitor.csv. Validation flag rates at .25. Group case mix and calibration may contribute; chart does not establish causality or discrimination. Bronx n=2288; Brooklyn=3748; Manhattan=2480; Queens=2958; Staten Island=427.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derived from weak AUC, low precision, hour-scale errors, sampling limitations, and borough monitoring. No operational impact has been demonstrated. This is a classroom analysis, not an endorsed or deployed NYC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sample and analysis. Unknown sampling method; April boundary days underrepresented. Random split may not isolate related requests. Definition is relative, not an official SLA. Tool use: base R for all statistics; AI-assisted code and reporting; independent metric checks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57ce9b83e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deadcd4804314" /><Relationship Type="http://schemas.openxmlformats.org/officeDocument/2006/relationships/slideLayout" Target="/ppt/slideLayouts/slideLayout1.xml" Id="Rfe5dd1485b18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dd1485b18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68eee2b374780" /><Relationship Type="http://schemas.openxmlformats.org/officeDocument/2006/relationships/notesSlide" Target="/ppt/notesSlides/notesSlide1.xml" Id="R630481277ba1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1f172a6448a1" /><Relationship Type="http://schemas.openxmlformats.org/officeDocument/2006/relationships/notesSlide" Target="/ppt/notesSlides/notesSlide2.xml" Id="Rd9797b4c77dc46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9bcccb1d49b0" /><Relationship Type="http://schemas.openxmlformats.org/officeDocument/2006/relationships/chart" Target="/ppt/slides/charts/chart1.xml" Id="Rc22bc5443a614ae5" /><Relationship Type="http://schemas.openxmlformats.org/officeDocument/2006/relationships/notesSlide" Target="/ppt/notesSlides/notesSlide3.xml" Id="R52915868af604f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bbbc30c774de3" /><Relationship Type="http://schemas.openxmlformats.org/officeDocument/2006/relationships/notesSlide" Target="/ppt/notesSlides/notesSlide4.xml" Id="Rf3cdb24cb29940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02aca635d4ab0" /><Relationship Type="http://schemas.openxmlformats.org/officeDocument/2006/relationships/chart" Target="/ppt/slides/charts/chart2.xml" Id="R1eff2c70058f4348" /><Relationship Type="http://schemas.openxmlformats.org/officeDocument/2006/relationships/notesSlide" Target="/ppt/notesSlides/notesSlide5.xml" Id="R21789be90b4e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edcdfa7354e6d" /><Relationship Type="http://schemas.openxmlformats.org/officeDocument/2006/relationships/chart" Target="/ppt/slides/charts/chart3.xml" Id="R82a7d5d2d72c4f72" /><Relationship Type="http://schemas.openxmlformats.org/officeDocument/2006/relationships/notesSlide" Target="/ppt/notesSlides/notesSlide6.xml" Id="R2103fff826b54d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c3c1d99f24a04" /><Relationship Type="http://schemas.openxmlformats.org/officeDocument/2006/relationships/chart" Target="/ppt/slides/charts/chart4.xml" Id="R4beaef423b8442e1" /><Relationship Type="http://schemas.openxmlformats.org/officeDocument/2006/relationships/notesSlide" Target="/ppt/notesSlides/notesSlide7.xml" Id="R0adbdba3a85a45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9a6c0ac934c12" /><Relationship Type="http://schemas.openxmlformats.org/officeDocument/2006/relationships/notesSlide" Target="/ppt/notesSlides/notesSlide8.xml" Id="Rf8d339fd869b48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cc8312a44ed6" /><Relationship Type="http://schemas.openxmlformats.org/officeDocument/2006/relationships/notesSlide" Target="/ppt/notesSlides/notesSlide9.xml" Id="Rd635c7ea801b444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Median</c:v>
                </c:pt>
                <c:pt idx="1">
                  <c:v>Mean</c:v>
                </c:pt>
                <c:pt idx="2">
                  <c:v>95th percentile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6.6816666667</c:v>
                </c:pt>
                <c:pt idx="1">
                  <c:v>251.355594</c:v>
                </c:pt>
                <c:pt idx="2">
                  <c:v>1251.437111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 RMSE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Data'!$A$2:$A$3</c:f>
              <c:strCache>
                <c:ptCount val="2"/>
                <c:pt idx="0">
                  <c:v>Mean baseline</c:v>
                </c:pt>
                <c:pt idx="1">
                  <c:v>Converted linear model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970.9672</c:v>
                </c:pt>
                <c:pt idx="1">
                  <c:v>1373.1778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Data'!$A$2:$A$4</c:f>
              <c:strCache>
                <c:ptCount val="3"/>
                <c:pt idx="0">
                  <c:v>Recall %</c:v>
                </c:pt>
                <c:pt idx="1">
                  <c:v>Precision %</c:v>
                </c:pt>
                <c:pt idx="2">
                  <c:v>Requests flagged %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50.24077</c:v>
                </c:pt>
                <c:pt idx="1">
                  <c:v>29.23048</c:v>
                </c:pt>
                <c:pt idx="2">
                  <c:v>44.98782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Flag rate %</c:v>
          </c:tx>
          <c:spPr>
            <a:solidFill xmlns:a="http://schemas.openxmlformats.org/drawingml/2006/main">
              <a:srgbClr val="287D8E"/>
            </a:solidFill>
          </c:spPr>
          <c:cat>
            <c:strRef>
              <c:f>'Chart Data'!$A$2:$A$6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99.43182</c:v>
                </c:pt>
                <c:pt idx="1">
                  <c:v>20.9445</c:v>
                </c:pt>
                <c:pt idx="2">
                  <c:v>37.37903</c:v>
                </c:pt>
                <c:pt idx="3">
                  <c:v>46.04462</c:v>
                </c:pt>
                <c:pt idx="4">
                  <c:v>1.17096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03963-267A-4159-BDED-85ADF6A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closure delay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B416C-8C73-4AF4-AD27-6532C822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April 2025 sample | ITC 353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9660D-215B-4ECE-9960-601DBCE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Evidence for monitoring and follow-up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0D4E1-3087-4C55-AB9F-4B6D77D3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Analytics Student</a:t>
            </a:r>
          </a:p>
        </p:txBody>
      </p:sp>
    </p:spTree>
    <p:extLst>
      <p:ext uri="{BB962C8B-B14F-4D97-AF65-F5344CB8AC3E}">
        <p14:creationId xmlns:p14="http://schemas.microsoft.com/office/powerpoint/2010/main" val="3676164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38D25-61C1-4465-8B4D-6D470DF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Operational decision and data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D65DB-57CC-405C-B304-129EFCFE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Which incoming requests may need extra follow-up?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050C7-C70D-4377-B1E2-0569B5CB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40,000 records; 39,668 have usable closure durations.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39ED-0C1A-4B67-A277-5E4BCB8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All are labeled Closed. Still-open requests may be absent.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71E94-7808-4B5B-92CD-595924CF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Recorded closure is not proof that the issue was resolved.</a:t>
            </a:r>
          </a:p>
        </p:txBody>
      </p:sp>
    </p:spTree>
    <p:extLst>
      <p:ext uri="{BB962C8B-B14F-4D97-AF65-F5344CB8AC3E}">
        <p14:creationId xmlns:p14="http://schemas.microsoft.com/office/powerpoint/2010/main" val="680649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2B2B-05A4-412A-99E5-5D7335FF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Closure times have a long upper tail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2bc5443a614ae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93882-AE3E-422F-9639-5EF5F0E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Hours to recorded closure. 2,930 requests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1342428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123BB-230F-45B1-A827-FC733626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Modeling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5EC2-6A73-431A-B197-A90F4C45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Two models: closure duration and probability of being slow.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AB96A-B004-4432-8349-9B09FCB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 means above a problem type’s training 75th percentile.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65789-BEC2-49B3-9AD1-5FE45AF7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70% training / 30% validation; preprocessing uses training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A35B7-B7C5-4447-BD8A-6A7A7ADC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Predictors use submission context; later outcomes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361936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94006-5171-4E85-866A-E8EEA51E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Log-scale fit does not ensure accurate hours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ff2c70058f434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998B7-9E3B-429A-B3A1-43E1E87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 RMSE is worse than the baseline. Avoid completion-time promises.</a:t>
            </a:r>
          </a:p>
        </p:txBody>
      </p:sp>
    </p:spTree>
    <p:extLst>
      <p:ext uri="{BB962C8B-B14F-4D97-AF65-F5344CB8AC3E}">
        <p14:creationId xmlns:p14="http://schemas.microsoft.com/office/powerpoint/2010/main" val="932024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745A-FF24-4465-9971-FF0F759A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Slow-request detection is weak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a7d5d2d72c4f7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D0A8C-E71E-4901-98AF-26E6A024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About half of slow requests are missed; most flags are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639608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72DEB-C228-45FE-A4FD-5611A38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cutoff creates uneven borough workloads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eaef423b8442e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75D26-40D8-4CD7-B81F-5B72DFA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Flag rates in validation, %. Review subgroup errors before any pilot.</a:t>
            </a:r>
          </a:p>
        </p:txBody>
      </p:sp>
    </p:spTree>
    <p:extLst>
      <p:ext uri="{BB962C8B-B14F-4D97-AF65-F5344CB8AC3E}">
        <p14:creationId xmlns:p14="http://schemas.microsoft.com/office/powerpoint/2010/main" val="2113429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8D159-261E-4EBB-AC39-032E467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Recommendation for city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6DCE6-CE01-465D-A86D-332222D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Do not automate prioritization with the current classifier.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53A89-1A18-4170-926C-2F608D68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Investigate long closure workflows and missing timestamps.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9F962-9481-4D60-ABDB-8A8ADF5F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Test later-month data, including requests that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67C8E-2E3D-430B-A61B-DFED4733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If piloted, use staff review and explicit limits on alert workload.</a:t>
            </a:r>
          </a:p>
        </p:txBody>
      </p:sp>
    </p:spTree>
    <p:extLst>
      <p:ext uri="{BB962C8B-B14F-4D97-AF65-F5344CB8AC3E}">
        <p14:creationId xmlns:p14="http://schemas.microsoft.com/office/powerpoint/2010/main" val="597452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86DED-54A1-4E1B-986D-7F856B60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Limits and 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6A561-1CCF-49A7-881C-8902767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month and an unknown sampling method limit generalization.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5716-55DE-4059-BA24-1E28B16E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Relative slow status is not an official service deadline.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D51ED-2AAD-4305-A1B7-029E812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Compare against simple rules and review errors by problem and borough.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4927-DA79-4278-BAD0-62C012B8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Urgency and service obligations must remain ahead of model scores.</a:t>
            </a:r>
          </a:p>
        </p:txBody>
      </p:sp>
    </p:spTree>
    <p:extLst>
      <p:ext uri="{BB962C8B-B14F-4D97-AF65-F5344CB8AC3E}">
        <p14:creationId xmlns:p14="http://schemas.microsoft.com/office/powerpoint/2010/main" val="1582002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2026-09-26T21:04:57.8150000Z</dcterms:created>
  <dcterms:modified xsi:type="dcterms:W3CDTF">2026-09-26T21:04:57.8160000Z</dcterms:modified>
</coreProperties>
</file>