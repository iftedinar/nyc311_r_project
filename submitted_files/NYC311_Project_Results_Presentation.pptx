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1" d="100"/>
          <a:sy n="101" d="100"/>
        </p:scale>
        <p:origin x="87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10"/>
  <c:chart>
    <c:autoTitleDeleted val="1"/>
    <c:plotArea>
      <c:layout/>
      <c:barChart>
        <c:barDir val="col"/>
        <c:grouping val="clustered"/>
        <c:varyColors val="1"/>
        <c:ser>
          <c:idx val="0"/>
          <c:order val="0"/>
          <c:tx>
            <c:strRef>
              <c:f>Sheet1!$B$1</c:f>
              <c:strCache>
                <c:ptCount val="1"/>
              </c:strCache>
            </c:strRef>
          </c:tx>
          <c:spPr>
            <a:solidFill>
              <a:srgbClr val="2C8494"/>
            </a:solidFill>
            <a:ln>
              <a:noFill/>
            </a:ln>
          </c:spPr>
          <c:invertIfNegative val="1"/>
          <c:cat>
            <c:strRef>
              <c:f>Sheet1!$A$2:$A$4</c:f>
              <c:strCache>
                <c:ptCount val="3"/>
                <c:pt idx="0">
                  <c:v>Illegal Parking</c:v>
                </c:pt>
                <c:pt idx="1">
                  <c:v>Noise - Residential</c:v>
                </c:pt>
                <c:pt idx="2">
                  <c:v>HEAT/HOT WATER</c:v>
                </c:pt>
              </c:strCache>
            </c:strRef>
          </c:cat>
          <c:val>
            <c:numRef>
              <c:f>Sheet1!$B$2:$B$4</c:f>
              <c:numCache>
                <c:formatCode>General</c:formatCode>
                <c:ptCount val="3"/>
                <c:pt idx="0">
                  <c:v>7088</c:v>
                </c:pt>
                <c:pt idx="1">
                  <c:v>4194</c:v>
                </c:pt>
                <c:pt idx="2">
                  <c:v>2479</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90E4-4070-8076-DA7094092B1F}"/>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l"/>
        <c:majorGridlines>
          <c:spPr>
            <a:ln>
              <a:solidFill>
                <a:srgbClr val="E1E6E8"/>
              </a:solidFill>
            </a:ln>
          </c:spPr>
        </c:majorGridlines>
        <c:numFmt formatCode="General" sourceLinked="1"/>
        <c:majorTickMark val="out"/>
        <c:minorTickMark val="none"/>
        <c:tickLblPos val="nextTo"/>
        <c:txPr>
          <a:bodyPr/>
          <a:lstStyle/>
          <a:p>
            <a:pPr>
              <a:defRPr sz="9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10"/>
  <c:chart>
    <c:autoTitleDeleted val="1"/>
    <c:plotArea>
      <c:layout/>
      <c:barChart>
        <c:barDir val="col"/>
        <c:grouping val="clustered"/>
        <c:varyColors val="1"/>
        <c:ser>
          <c:idx val="0"/>
          <c:order val="0"/>
          <c:tx>
            <c:strRef>
              <c:f>Sheet1!$B$1</c:f>
              <c:strCache>
                <c:ptCount val="1"/>
              </c:strCache>
            </c:strRef>
          </c:tx>
          <c:spPr>
            <a:solidFill>
              <a:srgbClr val="2C8494"/>
            </a:solidFill>
            <a:ln>
              <a:noFill/>
            </a:ln>
          </c:spPr>
          <c:invertIfNegative val="1"/>
          <c:cat>
            <c:strRef>
              <c:f>Sheet1!$A$2:$A$6</c:f>
              <c:strCache>
                <c:ptCount val="5"/>
                <c:pt idx="0">
                  <c:v>Brooklyn</c:v>
                </c:pt>
                <c:pt idx="1">
                  <c:v>Queens</c:v>
                </c:pt>
                <c:pt idx="2">
                  <c:v>Manhattan</c:v>
                </c:pt>
                <c:pt idx="3">
                  <c:v>Bronx</c:v>
                </c:pt>
                <c:pt idx="4">
                  <c:v>Staten Island</c:v>
                </c:pt>
              </c:strCache>
            </c:strRef>
          </c:cat>
          <c:val>
            <c:numRef>
              <c:f>Sheet1!$B$2:$B$6</c:f>
              <c:numCache>
                <c:formatCode>General</c:formatCode>
                <c:ptCount val="5"/>
                <c:pt idx="0">
                  <c:v>12603</c:v>
                </c:pt>
                <c:pt idx="1">
                  <c:v>9692</c:v>
                </c:pt>
                <c:pt idx="2">
                  <c:v>8557</c:v>
                </c:pt>
                <c:pt idx="3">
                  <c:v>7640</c:v>
                </c:pt>
                <c:pt idx="4">
                  <c:v>1508</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A47C-4D5B-BA40-52BB8BE1EE08}"/>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l"/>
        <c:majorGridlines>
          <c:spPr>
            <a:ln>
              <a:solidFill>
                <a:srgbClr val="E1E6E8"/>
              </a:solidFill>
            </a:ln>
          </c:spPr>
        </c:majorGridlines>
        <c:numFmt formatCode="General" sourceLinked="1"/>
        <c:majorTickMark val="out"/>
        <c:minorTickMark val="none"/>
        <c:tickLblPos val="nextTo"/>
        <c:txPr>
          <a:bodyPr/>
          <a:lstStyle/>
          <a:p>
            <a:pPr>
              <a:defRPr sz="9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10"/>
  <c:chart>
    <c:autoTitleDeleted val="1"/>
    <c:plotArea>
      <c:layout/>
      <c:barChart>
        <c:barDir val="col"/>
        <c:grouping val="clustered"/>
        <c:varyColors val="1"/>
        <c:ser>
          <c:idx val="0"/>
          <c:order val="0"/>
          <c:tx>
            <c:strRef>
              <c:f>Sheet1!$B$1</c:f>
              <c:strCache>
                <c:ptCount val="1"/>
              </c:strCache>
            </c:strRef>
          </c:tx>
          <c:spPr>
            <a:solidFill>
              <a:srgbClr val="2C8494"/>
            </a:solidFill>
            <a:ln>
              <a:noFill/>
            </a:ln>
          </c:spPr>
          <c:invertIfNegative val="1"/>
          <c:cat>
            <c:strRef>
              <c:f>Sheet1!$A$2:$A$4</c:f>
              <c:strCache>
                <c:ptCount val="3"/>
                <c:pt idx="0">
                  <c:v>Median</c:v>
                </c:pt>
                <c:pt idx="1">
                  <c:v>Mean</c:v>
                </c:pt>
                <c:pt idx="2">
                  <c:v>95th percentile</c:v>
                </c:pt>
              </c:strCache>
            </c:strRef>
          </c:cat>
          <c:val>
            <c:numRef>
              <c:f>Sheet1!$B$2:$B$4</c:f>
              <c:numCache>
                <c:formatCode>General</c:formatCode>
                <c:ptCount val="3"/>
                <c:pt idx="0">
                  <c:v>6.6817000000000002</c:v>
                </c:pt>
                <c:pt idx="1">
                  <c:v>251.35560000000001</c:v>
                </c:pt>
                <c:pt idx="2">
                  <c:v>1251.4371000000001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7C4E-4494-AE60-ABE87FEAF603}"/>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l"/>
        <c:majorGridlines>
          <c:spPr>
            <a:ln>
              <a:solidFill>
                <a:srgbClr val="E1E6E8"/>
              </a:solidFill>
            </a:ln>
          </c:spPr>
        </c:majorGridlines>
        <c:numFmt formatCode="General" sourceLinked="1"/>
        <c:majorTickMark val="out"/>
        <c:minorTickMark val="none"/>
        <c:tickLblPos val="nextTo"/>
        <c:txPr>
          <a:bodyPr/>
          <a:lstStyle/>
          <a:p>
            <a:pPr>
              <a:defRPr sz="9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10"/>
  <c:chart>
    <c:autoTitleDeleted val="1"/>
    <c:plotArea>
      <c:layout/>
      <c:barChart>
        <c:barDir val="col"/>
        <c:grouping val="clustered"/>
        <c:varyColors val="1"/>
        <c:ser>
          <c:idx val="0"/>
          <c:order val="0"/>
          <c:tx>
            <c:strRef>
              <c:f>Sheet1!$B$1</c:f>
              <c:strCache>
                <c:ptCount val="1"/>
              </c:strCache>
            </c:strRef>
          </c:tx>
          <c:spPr>
            <a:solidFill>
              <a:srgbClr val="2C8494"/>
            </a:solidFill>
            <a:ln>
              <a:noFill/>
            </a:ln>
          </c:spPr>
          <c:invertIfNegative val="1"/>
          <c:cat>
            <c:strRef>
              <c:f>Sheet1!$A$2:$A$6</c:f>
              <c:strCache>
                <c:ptCount val="5"/>
                <c:pt idx="0">
                  <c:v>EDC</c:v>
                </c:pt>
                <c:pt idx="1">
                  <c:v>TLC</c:v>
                </c:pt>
                <c:pt idx="2">
                  <c:v>DOB</c:v>
                </c:pt>
                <c:pt idx="3">
                  <c:v>DPR</c:v>
                </c:pt>
                <c:pt idx="4">
                  <c:v>NYPD</c:v>
                </c:pt>
              </c:strCache>
            </c:strRef>
          </c:cat>
          <c:val>
            <c:numRef>
              <c:f>Sheet1!$B$2:$B$6</c:f>
              <c:numCache>
                <c:formatCode>General</c:formatCode>
                <c:ptCount val="5"/>
                <c:pt idx="0">
                  <c:v>7254.84</c:v>
                </c:pt>
                <c:pt idx="1">
                  <c:v>1213.8399999999999</c:v>
                </c:pt>
                <c:pt idx="2">
                  <c:v>293.822</c:v>
                </c:pt>
                <c:pt idx="3">
                  <c:v>116.717</c:v>
                </c:pt>
                <c:pt idx="4">
                  <c:v>1.43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ECF3-4805-A4D6-9038FBA7A3A5}"/>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l"/>
        <c:majorGridlines>
          <c:spPr>
            <a:ln>
              <a:solidFill>
                <a:srgbClr val="E1E6E8"/>
              </a:solidFill>
            </a:ln>
          </c:spPr>
        </c:majorGridlines>
        <c:numFmt formatCode="General" sourceLinked="1"/>
        <c:majorTickMark val="out"/>
        <c:minorTickMark val="none"/>
        <c:tickLblPos val="nextTo"/>
        <c:txPr>
          <a:bodyPr/>
          <a:lstStyle/>
          <a:p>
            <a:pPr>
              <a:defRPr sz="9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10"/>
  <c:chart>
    <c:autoTitleDeleted val="1"/>
    <c:plotArea>
      <c:layout/>
      <c:barChart>
        <c:barDir val="col"/>
        <c:grouping val="clustered"/>
        <c:varyColors val="1"/>
        <c:ser>
          <c:idx val="0"/>
          <c:order val="0"/>
          <c:tx>
            <c:strRef>
              <c:f>Sheet1!$B$1</c:f>
              <c:strCache>
                <c:ptCount val="1"/>
              </c:strCache>
            </c:strRef>
          </c:tx>
          <c:spPr>
            <a:solidFill>
              <a:srgbClr val="2C8494"/>
            </a:solidFill>
            <a:ln>
              <a:noFill/>
            </a:ln>
          </c:spPr>
          <c:invertIfNegative val="1"/>
          <c:cat>
            <c:strRef>
              <c:f>Sheet1!$A$2:$A$6</c:f>
              <c:strCache>
                <c:ptCount val="5"/>
                <c:pt idx="0">
                  <c:v>Staten Island</c:v>
                </c:pt>
                <c:pt idx="1">
                  <c:v>Bronx</c:v>
                </c:pt>
                <c:pt idx="2">
                  <c:v>Manhattan</c:v>
                </c:pt>
                <c:pt idx="3">
                  <c:v>Brooklyn</c:v>
                </c:pt>
                <c:pt idx="4">
                  <c:v>Queens</c:v>
                </c:pt>
              </c:strCache>
            </c:strRef>
          </c:cat>
          <c:val>
            <c:numRef>
              <c:f>Sheet1!$B$2:$B$6</c:f>
              <c:numCache>
                <c:formatCode>General</c:formatCode>
                <c:ptCount val="5"/>
                <c:pt idx="0">
                  <c:v>13.0733</c:v>
                </c:pt>
                <c:pt idx="1">
                  <c:v>10.823600000000001</c:v>
                </c:pt>
                <c:pt idx="2">
                  <c:v>9.1646999999999998</c:v>
                </c:pt>
                <c:pt idx="3">
                  <c:v>5.0872000000000002</c:v>
                </c:pt>
                <c:pt idx="4">
                  <c:v>5.0011000000000001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49BD-422F-8920-BB44F7A29DFD}"/>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l"/>
        <c:majorGridlines>
          <c:spPr>
            <a:ln>
              <a:solidFill>
                <a:srgbClr val="E1E6E8"/>
              </a:solidFill>
            </a:ln>
          </c:spPr>
        </c:majorGridlines>
        <c:numFmt formatCode="General" sourceLinked="1"/>
        <c:majorTickMark val="out"/>
        <c:minorTickMark val="none"/>
        <c:tickLblPos val="nextTo"/>
        <c:txPr>
          <a:bodyPr/>
          <a:lstStyle/>
          <a:p>
            <a:pPr>
              <a:defRPr sz="9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10"/>
  <c:chart>
    <c:autoTitleDeleted val="1"/>
    <c:plotArea>
      <c:layout/>
      <c:barChart>
        <c:barDir val="col"/>
        <c:grouping val="clustered"/>
        <c:varyColors val="1"/>
        <c:ser>
          <c:idx val="0"/>
          <c:order val="0"/>
          <c:tx>
            <c:strRef>
              <c:f>Sheet1!$B$1</c:f>
              <c:strCache>
                <c:ptCount val="1"/>
              </c:strCache>
            </c:strRef>
          </c:tx>
          <c:spPr>
            <a:solidFill>
              <a:srgbClr val="2C8494"/>
            </a:solidFill>
            <a:ln>
              <a:noFill/>
            </a:ln>
          </c:spPr>
          <c:invertIfNegative val="1"/>
          <c:cat>
            <c:strRef>
              <c:f>Sheet1!$A$2:$A$3</c:f>
              <c:strCache>
                <c:ptCount val="2"/>
                <c:pt idx="0">
                  <c:v>Mean baseline</c:v>
                </c:pt>
                <c:pt idx="1">
                  <c:v>Converted model</c:v>
                </c:pt>
              </c:strCache>
            </c:strRef>
          </c:cat>
          <c:val>
            <c:numRef>
              <c:f>Sheet1!$B$2:$B$3</c:f>
              <c:numCache>
                <c:formatCode>General</c:formatCode>
                <c:ptCount val="2"/>
                <c:pt idx="0">
                  <c:v>970.96699999999998</c:v>
                </c:pt>
                <c:pt idx="1">
                  <c:v>1373.1780000000001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B7F2-4A84-80B8-BF43F37663A9}"/>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l"/>
        <c:majorGridlines>
          <c:spPr>
            <a:ln>
              <a:solidFill>
                <a:srgbClr val="E1E6E8"/>
              </a:solidFill>
            </a:ln>
          </c:spPr>
        </c:majorGridlines>
        <c:numFmt formatCode="General" sourceLinked="1"/>
        <c:majorTickMark val="out"/>
        <c:minorTickMark val="none"/>
        <c:tickLblPos val="nextTo"/>
        <c:txPr>
          <a:bodyPr/>
          <a:lstStyle/>
          <a:p>
            <a:pPr>
              <a:defRPr sz="9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10"/>
  <c:chart>
    <c:autoTitleDeleted val="1"/>
    <c:plotArea>
      <c:layout/>
      <c:barChart>
        <c:barDir val="col"/>
        <c:grouping val="clustered"/>
        <c:varyColors val="1"/>
        <c:ser>
          <c:idx val="0"/>
          <c:order val="0"/>
          <c:tx>
            <c:strRef>
              <c:f>Sheet1!$B$1</c:f>
              <c:strCache>
                <c:ptCount val="1"/>
              </c:strCache>
            </c:strRef>
          </c:tx>
          <c:spPr>
            <a:solidFill>
              <a:srgbClr val="2C8494"/>
            </a:solidFill>
            <a:ln>
              <a:noFill/>
            </a:ln>
          </c:spPr>
          <c:invertIfNegative val="1"/>
          <c:cat>
            <c:strRef>
              <c:f>Sheet1!$A$2:$A$4</c:f>
              <c:strCache>
                <c:ptCount val="3"/>
                <c:pt idx="0">
                  <c:v>Recall</c:v>
                </c:pt>
                <c:pt idx="1">
                  <c:v>Precision</c:v>
                </c:pt>
                <c:pt idx="2">
                  <c:v>Flagged</c:v>
                </c:pt>
              </c:strCache>
            </c:strRef>
          </c:cat>
          <c:val>
            <c:numRef>
              <c:f>Sheet1!$B$2:$B$4</c:f>
              <c:numCache>
                <c:formatCode>General</c:formatCode>
                <c:ptCount val="3"/>
                <c:pt idx="0">
                  <c:v>50.2408</c:v>
                </c:pt>
                <c:pt idx="1">
                  <c:v>29.230499999999999</c:v>
                </c:pt>
                <c:pt idx="2">
                  <c:v>44.9878</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80DA-4CA9-BD09-F19F62C7151F}"/>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l"/>
        <c:majorGridlines>
          <c:spPr>
            <a:ln>
              <a:solidFill>
                <a:srgbClr val="E1E6E8"/>
              </a:solidFill>
            </a:ln>
          </c:spPr>
        </c:majorGridlines>
        <c:numFmt formatCode="General" sourceLinked="1"/>
        <c:majorTickMark val="out"/>
        <c:minorTickMark val="none"/>
        <c:tickLblPos val="nextTo"/>
        <c:txPr>
          <a:bodyPr/>
          <a:lstStyle/>
          <a:p>
            <a:pPr>
              <a:defRPr sz="9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10"/>
  <c:chart>
    <c:autoTitleDeleted val="1"/>
    <c:plotArea>
      <c:layout/>
      <c:barChart>
        <c:barDir val="col"/>
        <c:grouping val="clustered"/>
        <c:varyColors val="1"/>
        <c:ser>
          <c:idx val="0"/>
          <c:order val="0"/>
          <c:tx>
            <c:strRef>
              <c:f>Sheet1!$B$1</c:f>
              <c:strCache>
                <c:ptCount val="1"/>
              </c:strCache>
            </c:strRef>
          </c:tx>
          <c:spPr>
            <a:solidFill>
              <a:srgbClr val="2C8494"/>
            </a:solidFill>
            <a:ln>
              <a:noFill/>
            </a:ln>
          </c:spPr>
          <c:invertIfNegative val="1"/>
          <c:cat>
            <c:strRef>
              <c:f>Sheet1!$A$2:$A$6</c:f>
              <c:strCache>
                <c:ptCount val="5"/>
                <c:pt idx="0">
                  <c:v>Bronx</c:v>
                </c:pt>
                <c:pt idx="1">
                  <c:v>Queens</c:v>
                </c:pt>
                <c:pt idx="2">
                  <c:v>Manhattan</c:v>
                </c:pt>
                <c:pt idx="3">
                  <c:v>Brooklyn</c:v>
                </c:pt>
                <c:pt idx="4">
                  <c:v>Staten Island</c:v>
                </c:pt>
              </c:strCache>
            </c:strRef>
          </c:cat>
          <c:val>
            <c:numRef>
              <c:f>Sheet1!$B$2:$B$6</c:f>
              <c:numCache>
                <c:formatCode>General</c:formatCode>
                <c:ptCount val="5"/>
                <c:pt idx="0">
                  <c:v>99.431799999999996</c:v>
                </c:pt>
                <c:pt idx="1">
                  <c:v>46.044600000000003</c:v>
                </c:pt>
                <c:pt idx="2">
                  <c:v>37.378999999999998</c:v>
                </c:pt>
                <c:pt idx="3">
                  <c:v>20.944500000000001</c:v>
                </c:pt>
                <c:pt idx="4">
                  <c:v>1.171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459C-44A9-B816-D2F5DC4C543D}"/>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900"/>
            </a:pPr>
            <a:endParaRPr lang="en-US"/>
          </a:p>
        </c:txPr>
        <c:crossAx val="-2113994440"/>
        <c:crosses val="autoZero"/>
        <c:auto val="1"/>
        <c:lblAlgn val="ctr"/>
        <c:lblOffset val="100"/>
        <c:noMultiLvlLbl val="0"/>
      </c:catAx>
      <c:valAx>
        <c:axId val="-2113994440"/>
        <c:scaling>
          <c:orientation val="minMax"/>
        </c:scaling>
        <c:delete val="0"/>
        <c:axPos val="l"/>
        <c:majorGridlines>
          <c:spPr>
            <a:ln>
              <a:solidFill>
                <a:srgbClr val="E1E6E8"/>
              </a:solidFill>
            </a:ln>
          </c:spPr>
        </c:majorGridlines>
        <c:numFmt formatCode="General" sourceLinked="1"/>
        <c:majorTickMark val="out"/>
        <c:minorTickMark val="none"/>
        <c:tickLblPos val="nextTo"/>
        <c:txPr>
          <a:bodyPr/>
          <a:lstStyle/>
          <a:p>
            <a:pPr>
              <a:defRPr sz="9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C8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1143000"/>
            <a:ext cx="10698480" cy="640080"/>
          </a:xfrm>
          <a:prstGeom prst="rect">
            <a:avLst/>
          </a:prstGeom>
          <a:noFill/>
        </p:spPr>
        <p:txBody>
          <a:bodyPr wrap="none" lIns="109728" tIns="109728" rIns="109728" bIns="109728" anchor="ctr">
            <a:spAutoFit/>
          </a:bodyPr>
          <a:lstStyle/>
          <a:p>
            <a:pPr algn="l">
              <a:defRPr sz="3000" b="1">
                <a:solidFill>
                  <a:srgbClr val="193144"/>
                </a:solidFill>
                <a:latin typeface="Aptos"/>
              </a:defRPr>
            </a:pPr>
            <a:r>
              <a:t>NYC 311 Service Request Delay Prediction</a:t>
            </a:r>
          </a:p>
        </p:txBody>
      </p:sp>
      <p:sp>
        <p:nvSpPr>
          <p:cNvPr id="4" name="TextBox 3"/>
          <p:cNvSpPr txBox="1"/>
          <p:nvPr/>
        </p:nvSpPr>
        <p:spPr>
          <a:xfrm>
            <a:off x="713232" y="1738627"/>
            <a:ext cx="2533514" cy="683264"/>
          </a:xfrm>
          <a:prstGeom prst="rect">
            <a:avLst/>
          </a:prstGeom>
          <a:noFill/>
        </p:spPr>
        <p:txBody>
          <a:bodyPr wrap="none" lIns="109728" tIns="109728" rIns="109728" bIns="109728" anchor="ctr">
            <a:spAutoFit/>
          </a:bodyPr>
          <a:lstStyle/>
          <a:p>
            <a:pPr algn="l">
              <a:defRPr sz="1500" b="1">
                <a:solidFill>
                  <a:srgbClr val="2C8494"/>
                </a:solidFill>
                <a:latin typeface="Aptos"/>
              </a:defRPr>
            </a:pPr>
            <a:r>
              <a:rPr dirty="0"/>
              <a:t>April 2025 sample | ITC 353</a:t>
            </a:r>
            <a:endParaRPr lang="en-US" dirty="0"/>
          </a:p>
          <a:p>
            <a:pPr algn="l">
              <a:defRPr sz="1500" b="1">
                <a:solidFill>
                  <a:srgbClr val="2C8494"/>
                </a:solidFill>
                <a:latin typeface="Aptos"/>
              </a:defRPr>
            </a:pPr>
            <a:r>
              <a:rPr lang="en-US" dirty="0"/>
              <a:t>By Iftekhar Dinar</a:t>
            </a:r>
          </a:p>
        </p:txBody>
      </p:sp>
      <p:sp>
        <p:nvSpPr>
          <p:cNvPr id="5" name="TextBox 4"/>
          <p:cNvSpPr txBox="1"/>
          <p:nvPr/>
        </p:nvSpPr>
        <p:spPr>
          <a:xfrm>
            <a:off x="713232" y="2606040"/>
            <a:ext cx="9875520" cy="914400"/>
          </a:xfrm>
          <a:prstGeom prst="rect">
            <a:avLst/>
          </a:prstGeom>
          <a:noFill/>
        </p:spPr>
        <p:txBody>
          <a:bodyPr wrap="none" lIns="109728" tIns="109728" rIns="109728" bIns="109728" anchor="ctr">
            <a:spAutoFit/>
          </a:bodyPr>
          <a:lstStyle/>
          <a:p>
            <a:pPr algn="l">
              <a:defRPr sz="2300" b="0">
                <a:solidFill>
                  <a:srgbClr val="202D37"/>
                </a:solidFill>
                <a:latin typeface="Aptos"/>
              </a:defRPr>
            </a:pPr>
            <a:r>
              <a:t>From service-request data to a responsible monitoring recommendation</a:t>
            </a:r>
          </a:p>
        </p:txBody>
      </p:sp>
      <p:sp>
        <p:nvSpPr>
          <p:cNvPr id="6" name="TextBox 5"/>
          <p:cNvSpPr txBox="1"/>
          <p:nvPr/>
        </p:nvSpPr>
        <p:spPr>
          <a:xfrm>
            <a:off x="713232" y="5349240"/>
            <a:ext cx="4846320" cy="365760"/>
          </a:xfrm>
          <a:prstGeom prst="rect">
            <a:avLst/>
          </a:prstGeom>
          <a:noFill/>
        </p:spPr>
        <p:txBody>
          <a:bodyPr wrap="none" lIns="109728" tIns="109728" rIns="109728" bIns="109728" anchor="ctr">
            <a:spAutoFit/>
          </a:bodyPr>
          <a:lstStyle/>
          <a:p>
            <a:pPr algn="l">
              <a:defRPr sz="1100" b="0">
                <a:solidFill>
                  <a:srgbClr val="5B6973"/>
                </a:solidFill>
                <a:latin typeface="Aptos"/>
              </a:defRPr>
            </a:pPr>
            <a:r>
              <a:t>Business problem • Findings • Model results • Recommendation</a:t>
            </a:r>
          </a:p>
        </p:txBody>
      </p:sp>
      <p:sp>
        <p:nvSpPr>
          <p:cNvPr id="8" name="TextBox 7"/>
          <p:cNvSpPr txBox="1"/>
          <p:nvPr/>
        </p:nvSpPr>
        <p:spPr>
          <a:xfrm>
            <a:off x="10744200" y="6473952"/>
            <a:ext cx="914400" cy="182880"/>
          </a:xfrm>
          <a:prstGeom prst="rect">
            <a:avLst/>
          </a:prstGeom>
          <a:noFill/>
        </p:spPr>
        <p:txBody>
          <a:bodyPr wrap="none">
            <a:spAutoFit/>
          </a:bodyPr>
          <a:lstStyle/>
          <a:p>
            <a:pPr algn="r">
              <a:defRPr sz="900">
                <a:solidFill>
                  <a:srgbClr val="5B6973"/>
                </a:solidFill>
              </a:defRPr>
            </a:pPr>
            <a: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C8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1064240" cy="502920"/>
          </a:xfrm>
          <a:prstGeom prst="rect">
            <a:avLst/>
          </a:prstGeom>
          <a:noFill/>
        </p:spPr>
        <p:txBody>
          <a:bodyPr wrap="none">
            <a:spAutoFit/>
          </a:bodyPr>
          <a:lstStyle/>
          <a:p>
            <a:pPr>
              <a:defRPr sz="2500" b="1">
                <a:solidFill>
                  <a:srgbClr val="193144"/>
                </a:solidFill>
                <a:latin typeface="Aptos Display"/>
              </a:defRPr>
            </a:pPr>
            <a:r>
              <a:t>1. Business problem</a:t>
            </a:r>
          </a:p>
        </p:txBody>
      </p:sp>
      <p:sp>
        <p:nvSpPr>
          <p:cNvPr id="5" name="Rounded Rectangle 4"/>
          <p:cNvSpPr/>
          <p:nvPr/>
        </p:nvSpPr>
        <p:spPr>
          <a:xfrm>
            <a:off x="502920" y="1021842"/>
            <a:ext cx="5212080" cy="914400"/>
          </a:xfrm>
          <a:prstGeom prst="roundRect">
            <a:avLst/>
          </a:prstGeom>
          <a:solidFill>
            <a:srgbClr val="EFF6F7"/>
          </a:solidFill>
          <a:ln>
            <a:solidFill>
              <a:srgbClr val="EFF6F7"/>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l">
              <a:defRPr sz="2200" b="1">
                <a:solidFill>
                  <a:srgbClr val="193144"/>
                </a:solidFill>
                <a:latin typeface="Aptos"/>
              </a:defRPr>
            </a:pPr>
            <a:r>
              <a:rPr dirty="0"/>
              <a:t>Which incoming requests may take longer to reach recorded closure and may need extra follow-up?</a:t>
            </a:r>
          </a:p>
        </p:txBody>
      </p:sp>
      <p:sp>
        <p:nvSpPr>
          <p:cNvPr id="6" name="TextBox 5"/>
          <p:cNvSpPr txBox="1"/>
          <p:nvPr/>
        </p:nvSpPr>
        <p:spPr>
          <a:xfrm>
            <a:off x="401954" y="2417160"/>
            <a:ext cx="7503795" cy="1119281"/>
          </a:xfrm>
          <a:prstGeom prst="rect">
            <a:avLst/>
          </a:prstGeom>
          <a:noFill/>
        </p:spPr>
        <p:txBody>
          <a:bodyPr wrap="square" lIns="164592" tIns="109728" rIns="164592" bIns="109728">
            <a:spAutoFit/>
          </a:bodyPr>
          <a:lstStyle/>
          <a:p>
            <a:pPr>
              <a:spcAft>
                <a:spcPts val="800"/>
              </a:spcAft>
              <a:defRPr sz="1500">
                <a:solidFill>
                  <a:srgbClr val="202D37"/>
                </a:solidFill>
                <a:latin typeface="Aptos"/>
              </a:defRPr>
            </a:pPr>
            <a:r>
              <a:rPr dirty="0"/>
              <a:t>• Estimate recorded closure duration from information available at submission.</a:t>
            </a:r>
          </a:p>
          <a:p>
            <a:pPr>
              <a:spcAft>
                <a:spcPts val="800"/>
              </a:spcAft>
              <a:defRPr sz="1500">
                <a:solidFill>
                  <a:srgbClr val="202D37"/>
                </a:solidFill>
                <a:latin typeface="Aptos"/>
              </a:defRPr>
            </a:pPr>
            <a:r>
              <a:rPr dirty="0"/>
              <a:t>• Screen for requests that are unusually slow relative to similar problem types.</a:t>
            </a:r>
          </a:p>
          <a:p>
            <a:pPr>
              <a:spcAft>
                <a:spcPts val="800"/>
              </a:spcAft>
              <a:defRPr sz="1500">
                <a:solidFill>
                  <a:srgbClr val="202D37"/>
                </a:solidFill>
                <a:latin typeface="Aptos"/>
              </a:defRPr>
            </a:pPr>
            <a:r>
              <a:rPr dirty="0"/>
              <a:t>• Use results to support monitoring and follow-up</a:t>
            </a:r>
            <a:r>
              <a:rPr lang="en-US" dirty="0"/>
              <a:t> </a:t>
            </a:r>
            <a:r>
              <a:rPr dirty="0"/>
              <a:t>not to decide who receives service.</a:t>
            </a:r>
          </a:p>
        </p:txBody>
      </p:sp>
      <p:sp>
        <p:nvSpPr>
          <p:cNvPr id="8" name="Rounded Rectangle 7"/>
          <p:cNvSpPr/>
          <p:nvPr/>
        </p:nvSpPr>
        <p:spPr>
          <a:xfrm>
            <a:off x="640080" y="4000500"/>
            <a:ext cx="5166360" cy="2331720"/>
          </a:xfrm>
          <a:prstGeom prst="roundRect">
            <a:avLst/>
          </a:prstGeom>
          <a:solidFill>
            <a:srgbClr val="F7F9FA"/>
          </a:solidFill>
          <a:ln>
            <a:solidFill>
              <a:srgbClr val="F7F9FA"/>
            </a:solidFill>
          </a:ln>
        </p:spPr>
        <p:style>
          <a:lnRef idx="1">
            <a:schemeClr val="accent1"/>
          </a:lnRef>
          <a:fillRef idx="3">
            <a:schemeClr val="accent1"/>
          </a:fillRef>
          <a:effectRef idx="2">
            <a:schemeClr val="accent1"/>
          </a:effectRef>
          <a:fontRef idx="minor">
            <a:schemeClr val="lt1"/>
          </a:fontRef>
        </p:style>
        <p:txBody>
          <a:bodyPr lIns="164592" tIns="109728" rIns="164592" bIns="109728" rtlCol="0" anchor="ctr"/>
          <a:lstStyle/>
          <a:p>
            <a:pPr algn="ctr">
              <a:spcAft>
                <a:spcPts val="800"/>
              </a:spcAft>
              <a:defRPr sz="1500">
                <a:solidFill>
                  <a:srgbClr val="202D37"/>
                </a:solidFill>
                <a:latin typeface="Aptos"/>
              </a:defRPr>
            </a:pPr>
            <a:r>
              <a:rPr dirty="0"/>
              <a:t>• Recorded closure is an administrative timestamp; it does not prove the underlying issue was fixed.</a:t>
            </a:r>
          </a:p>
          <a:p>
            <a:pPr>
              <a:spcAft>
                <a:spcPts val="800"/>
              </a:spcAft>
              <a:defRPr sz="1500">
                <a:solidFill>
                  <a:srgbClr val="202D37"/>
                </a:solidFill>
                <a:latin typeface="Aptos"/>
              </a:defRPr>
            </a:pPr>
            <a:r>
              <a:rPr dirty="0"/>
              <a:t>• All supplied records are labeled Closed, so still-open requests may be absent.</a:t>
            </a:r>
          </a:p>
          <a:p>
            <a:pPr>
              <a:spcAft>
                <a:spcPts val="800"/>
              </a:spcAft>
              <a:defRPr sz="1500">
                <a:solidFill>
                  <a:srgbClr val="202D37"/>
                </a:solidFill>
                <a:latin typeface="Aptos"/>
              </a:defRPr>
            </a:pPr>
            <a:r>
              <a:rPr dirty="0"/>
              <a:t>• The model is evaluated as decision support, not as an automated triage system.</a:t>
            </a:r>
          </a:p>
        </p:txBody>
      </p:sp>
      <p:sp>
        <p:nvSpPr>
          <p:cNvPr id="9" name="TextBox 8"/>
          <p:cNvSpPr txBox="1"/>
          <p:nvPr/>
        </p:nvSpPr>
        <p:spPr>
          <a:xfrm>
            <a:off x="10744200" y="6473952"/>
            <a:ext cx="914400" cy="182880"/>
          </a:xfrm>
          <a:prstGeom prst="rect">
            <a:avLst/>
          </a:prstGeom>
          <a:noFill/>
        </p:spPr>
        <p:txBody>
          <a:bodyPr wrap="none">
            <a:spAutoFit/>
          </a:bodyPr>
          <a:lstStyle/>
          <a:p>
            <a:pPr algn="r">
              <a:defRPr sz="900">
                <a:solidFill>
                  <a:srgbClr val="5B6973"/>
                </a:solidFill>
              </a:defRPr>
            </a:pPr>
            <a: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C8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1064240" cy="502920"/>
          </a:xfrm>
          <a:prstGeom prst="rect">
            <a:avLst/>
          </a:prstGeom>
          <a:noFill/>
        </p:spPr>
        <p:txBody>
          <a:bodyPr wrap="none">
            <a:spAutoFit/>
          </a:bodyPr>
          <a:lstStyle/>
          <a:p>
            <a:pPr>
              <a:defRPr sz="2500" b="1">
                <a:solidFill>
                  <a:srgbClr val="193144"/>
                </a:solidFill>
                <a:latin typeface="Aptos Display"/>
              </a:defRPr>
            </a:pPr>
            <a:r>
              <a:t>2. Data scope and preparation</a:t>
            </a:r>
          </a:p>
        </p:txBody>
      </p:sp>
      <p:sp>
        <p:nvSpPr>
          <p:cNvPr id="4" name="TextBox 3"/>
          <p:cNvSpPr txBox="1"/>
          <p:nvPr/>
        </p:nvSpPr>
        <p:spPr>
          <a:xfrm>
            <a:off x="530352" y="768096"/>
            <a:ext cx="10972800" cy="320040"/>
          </a:xfrm>
          <a:prstGeom prst="rect">
            <a:avLst/>
          </a:prstGeom>
          <a:noFill/>
        </p:spPr>
        <p:txBody>
          <a:bodyPr wrap="none">
            <a:spAutoFit/>
          </a:bodyPr>
          <a:lstStyle/>
          <a:p>
            <a:pPr>
              <a:defRPr sz="1050">
                <a:solidFill>
                  <a:srgbClr val="5B6973"/>
                </a:solidFill>
                <a:latin typeface="Aptos"/>
              </a:defRPr>
            </a:pPr>
            <a:r>
              <a:t>The analysis preserves only usable targets and avoids post-submission leakage</a:t>
            </a:r>
          </a:p>
        </p:txBody>
      </p:sp>
      <p:sp>
        <p:nvSpPr>
          <p:cNvPr id="5" name="Rounded Rectangle 4"/>
          <p:cNvSpPr/>
          <p:nvPr/>
        </p:nvSpPr>
        <p:spPr>
          <a:xfrm>
            <a:off x="594360" y="1325880"/>
            <a:ext cx="2423160" cy="1234440"/>
          </a:xfrm>
          <a:prstGeom prst="roundRect">
            <a:avLst/>
          </a:prstGeom>
          <a:solidFill>
            <a:srgbClr val="EFF6F7"/>
          </a:solidFill>
          <a:ln>
            <a:solidFill>
              <a:srgbClr val="D7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04088" y="1435607"/>
            <a:ext cx="2203704" cy="256032"/>
          </a:xfrm>
          <a:prstGeom prst="rect">
            <a:avLst/>
          </a:prstGeom>
          <a:noFill/>
        </p:spPr>
        <p:txBody>
          <a:bodyPr wrap="none" lIns="109728" tIns="109728" rIns="109728" bIns="109728" anchor="ctr">
            <a:spAutoFit/>
          </a:bodyPr>
          <a:lstStyle/>
          <a:p>
            <a:pPr algn="l">
              <a:defRPr sz="1000" b="1">
                <a:solidFill>
                  <a:srgbClr val="5B6973"/>
                </a:solidFill>
                <a:latin typeface="Aptos"/>
              </a:defRPr>
            </a:pPr>
            <a:r>
              <a:t>RAW SAMPLE</a:t>
            </a:r>
          </a:p>
        </p:txBody>
      </p:sp>
      <p:sp>
        <p:nvSpPr>
          <p:cNvPr id="7" name="TextBox 6"/>
          <p:cNvSpPr txBox="1"/>
          <p:nvPr/>
        </p:nvSpPr>
        <p:spPr>
          <a:xfrm>
            <a:off x="704088" y="1709928"/>
            <a:ext cx="2203704" cy="438912"/>
          </a:xfrm>
          <a:prstGeom prst="rect">
            <a:avLst/>
          </a:prstGeom>
          <a:noFill/>
        </p:spPr>
        <p:txBody>
          <a:bodyPr wrap="none" lIns="109728" tIns="109728" rIns="109728" bIns="109728" anchor="ctr">
            <a:spAutoFit/>
          </a:bodyPr>
          <a:lstStyle/>
          <a:p>
            <a:pPr algn="l">
              <a:defRPr sz="2400" b="1">
                <a:solidFill>
                  <a:srgbClr val="193144"/>
                </a:solidFill>
                <a:latin typeface="Aptos"/>
              </a:defRPr>
            </a:pPr>
            <a:r>
              <a:t>40,000</a:t>
            </a:r>
          </a:p>
        </p:txBody>
      </p:sp>
      <p:sp>
        <p:nvSpPr>
          <p:cNvPr id="8" name="TextBox 7"/>
          <p:cNvSpPr txBox="1"/>
          <p:nvPr/>
        </p:nvSpPr>
        <p:spPr>
          <a:xfrm>
            <a:off x="704088" y="2203704"/>
            <a:ext cx="2203704" cy="228600"/>
          </a:xfrm>
          <a:prstGeom prst="rect">
            <a:avLst/>
          </a:prstGeom>
          <a:noFill/>
        </p:spPr>
        <p:txBody>
          <a:bodyPr wrap="none" lIns="109728" tIns="109728" rIns="109728" bIns="109728" anchor="ctr">
            <a:spAutoFit/>
          </a:bodyPr>
          <a:lstStyle/>
          <a:p>
            <a:pPr algn="l">
              <a:defRPr sz="900" b="0">
                <a:solidFill>
                  <a:srgbClr val="5B6973"/>
                </a:solidFill>
                <a:latin typeface="Aptos"/>
              </a:defRPr>
            </a:pPr>
            <a:r>
              <a:t>records</a:t>
            </a:r>
          </a:p>
        </p:txBody>
      </p:sp>
      <p:sp>
        <p:nvSpPr>
          <p:cNvPr id="9" name="Rounded Rectangle 8"/>
          <p:cNvSpPr/>
          <p:nvPr/>
        </p:nvSpPr>
        <p:spPr>
          <a:xfrm>
            <a:off x="3200400" y="1325880"/>
            <a:ext cx="2423160" cy="1234440"/>
          </a:xfrm>
          <a:prstGeom prst="roundRect">
            <a:avLst/>
          </a:prstGeom>
          <a:solidFill>
            <a:srgbClr val="EFF6F7"/>
          </a:solidFill>
          <a:ln>
            <a:solidFill>
              <a:srgbClr val="D7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10128" y="1435607"/>
            <a:ext cx="2203704" cy="256032"/>
          </a:xfrm>
          <a:prstGeom prst="rect">
            <a:avLst/>
          </a:prstGeom>
          <a:noFill/>
        </p:spPr>
        <p:txBody>
          <a:bodyPr wrap="none" lIns="109728" tIns="109728" rIns="109728" bIns="109728" anchor="ctr">
            <a:spAutoFit/>
          </a:bodyPr>
          <a:lstStyle/>
          <a:p>
            <a:pPr algn="l">
              <a:defRPr sz="1000" b="1">
                <a:solidFill>
                  <a:srgbClr val="5B6973"/>
                </a:solidFill>
                <a:latin typeface="Aptos"/>
              </a:defRPr>
            </a:pPr>
            <a:r>
              <a:t>USABLE</a:t>
            </a:r>
          </a:p>
        </p:txBody>
      </p:sp>
      <p:sp>
        <p:nvSpPr>
          <p:cNvPr id="11" name="TextBox 10"/>
          <p:cNvSpPr txBox="1"/>
          <p:nvPr/>
        </p:nvSpPr>
        <p:spPr>
          <a:xfrm>
            <a:off x="3310128" y="1709928"/>
            <a:ext cx="2203704" cy="438912"/>
          </a:xfrm>
          <a:prstGeom prst="rect">
            <a:avLst/>
          </a:prstGeom>
          <a:noFill/>
        </p:spPr>
        <p:txBody>
          <a:bodyPr wrap="none" lIns="109728" tIns="109728" rIns="109728" bIns="109728" anchor="ctr">
            <a:spAutoFit/>
          </a:bodyPr>
          <a:lstStyle/>
          <a:p>
            <a:pPr algn="l">
              <a:defRPr sz="2400" b="1">
                <a:solidFill>
                  <a:srgbClr val="193144"/>
                </a:solidFill>
                <a:latin typeface="Aptos"/>
              </a:defRPr>
            </a:pPr>
            <a:r>
              <a:t>39,668</a:t>
            </a:r>
          </a:p>
        </p:txBody>
      </p:sp>
      <p:sp>
        <p:nvSpPr>
          <p:cNvPr id="12" name="TextBox 11"/>
          <p:cNvSpPr txBox="1"/>
          <p:nvPr/>
        </p:nvSpPr>
        <p:spPr>
          <a:xfrm>
            <a:off x="3310128" y="2203704"/>
            <a:ext cx="2203704" cy="228600"/>
          </a:xfrm>
          <a:prstGeom prst="rect">
            <a:avLst/>
          </a:prstGeom>
          <a:noFill/>
        </p:spPr>
        <p:txBody>
          <a:bodyPr wrap="none" lIns="109728" tIns="109728" rIns="109728" bIns="109728" anchor="ctr">
            <a:spAutoFit/>
          </a:bodyPr>
          <a:lstStyle/>
          <a:p>
            <a:pPr algn="l">
              <a:defRPr sz="900" b="0">
                <a:solidFill>
                  <a:srgbClr val="5B6973"/>
                </a:solidFill>
                <a:latin typeface="Aptos"/>
              </a:defRPr>
            </a:pPr>
            <a:r>
              <a:t>closure durations</a:t>
            </a:r>
          </a:p>
        </p:txBody>
      </p:sp>
      <p:sp>
        <p:nvSpPr>
          <p:cNvPr id="13" name="Rounded Rectangle 12"/>
          <p:cNvSpPr/>
          <p:nvPr/>
        </p:nvSpPr>
        <p:spPr>
          <a:xfrm>
            <a:off x="5806440" y="1325880"/>
            <a:ext cx="2423160" cy="1234440"/>
          </a:xfrm>
          <a:prstGeom prst="roundRect">
            <a:avLst/>
          </a:prstGeom>
          <a:solidFill>
            <a:srgbClr val="EFF6F7"/>
          </a:solidFill>
          <a:ln>
            <a:solidFill>
              <a:srgbClr val="D7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16168" y="1435607"/>
            <a:ext cx="2203704" cy="256032"/>
          </a:xfrm>
          <a:prstGeom prst="rect">
            <a:avLst/>
          </a:prstGeom>
          <a:noFill/>
        </p:spPr>
        <p:txBody>
          <a:bodyPr wrap="none" lIns="109728" tIns="109728" rIns="109728" bIns="109728" anchor="ctr">
            <a:spAutoFit/>
          </a:bodyPr>
          <a:lstStyle/>
          <a:p>
            <a:pPr algn="l">
              <a:defRPr sz="1000" b="1">
                <a:solidFill>
                  <a:srgbClr val="5B6973"/>
                </a:solidFill>
                <a:latin typeface="Aptos"/>
              </a:defRPr>
            </a:pPr>
            <a:r>
              <a:t>TRAINING</a:t>
            </a:r>
          </a:p>
        </p:txBody>
      </p:sp>
      <p:sp>
        <p:nvSpPr>
          <p:cNvPr id="15" name="TextBox 14"/>
          <p:cNvSpPr txBox="1"/>
          <p:nvPr/>
        </p:nvSpPr>
        <p:spPr>
          <a:xfrm>
            <a:off x="5916168" y="1709928"/>
            <a:ext cx="2203704" cy="438912"/>
          </a:xfrm>
          <a:prstGeom prst="rect">
            <a:avLst/>
          </a:prstGeom>
          <a:noFill/>
        </p:spPr>
        <p:txBody>
          <a:bodyPr wrap="none" lIns="109728" tIns="109728" rIns="109728" bIns="109728" anchor="ctr">
            <a:spAutoFit/>
          </a:bodyPr>
          <a:lstStyle/>
          <a:p>
            <a:pPr algn="l">
              <a:defRPr sz="2400" b="1">
                <a:solidFill>
                  <a:srgbClr val="193144"/>
                </a:solidFill>
                <a:latin typeface="Aptos"/>
              </a:defRPr>
            </a:pPr>
            <a:r>
              <a:t>27,767</a:t>
            </a:r>
          </a:p>
        </p:txBody>
      </p:sp>
      <p:sp>
        <p:nvSpPr>
          <p:cNvPr id="16" name="TextBox 15"/>
          <p:cNvSpPr txBox="1"/>
          <p:nvPr/>
        </p:nvSpPr>
        <p:spPr>
          <a:xfrm>
            <a:off x="5916168" y="2203704"/>
            <a:ext cx="2203704" cy="228600"/>
          </a:xfrm>
          <a:prstGeom prst="rect">
            <a:avLst/>
          </a:prstGeom>
          <a:noFill/>
        </p:spPr>
        <p:txBody>
          <a:bodyPr wrap="none" lIns="109728" tIns="109728" rIns="109728" bIns="109728" anchor="ctr">
            <a:spAutoFit/>
          </a:bodyPr>
          <a:lstStyle/>
          <a:p>
            <a:pPr algn="l">
              <a:defRPr sz="900" b="0">
                <a:solidFill>
                  <a:srgbClr val="5B6973"/>
                </a:solidFill>
                <a:latin typeface="Aptos"/>
              </a:defRPr>
            </a:pPr>
            <a:r>
              <a:t>70% split</a:t>
            </a:r>
          </a:p>
        </p:txBody>
      </p:sp>
      <p:sp>
        <p:nvSpPr>
          <p:cNvPr id="17" name="Rounded Rectangle 16"/>
          <p:cNvSpPr/>
          <p:nvPr/>
        </p:nvSpPr>
        <p:spPr>
          <a:xfrm>
            <a:off x="8412480" y="1325880"/>
            <a:ext cx="2423160" cy="1234440"/>
          </a:xfrm>
          <a:prstGeom prst="roundRect">
            <a:avLst/>
          </a:prstGeom>
          <a:solidFill>
            <a:srgbClr val="EFF6F7"/>
          </a:solidFill>
          <a:ln>
            <a:solidFill>
              <a:srgbClr val="D7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22207" y="1435607"/>
            <a:ext cx="2203704" cy="256032"/>
          </a:xfrm>
          <a:prstGeom prst="rect">
            <a:avLst/>
          </a:prstGeom>
          <a:noFill/>
        </p:spPr>
        <p:txBody>
          <a:bodyPr wrap="none" lIns="109728" tIns="109728" rIns="109728" bIns="109728" anchor="ctr">
            <a:spAutoFit/>
          </a:bodyPr>
          <a:lstStyle/>
          <a:p>
            <a:pPr algn="l">
              <a:defRPr sz="1000" b="1">
                <a:solidFill>
                  <a:srgbClr val="5B6973"/>
                </a:solidFill>
                <a:latin typeface="Aptos"/>
              </a:defRPr>
            </a:pPr>
            <a:r>
              <a:t>VALIDATION</a:t>
            </a:r>
          </a:p>
        </p:txBody>
      </p:sp>
      <p:sp>
        <p:nvSpPr>
          <p:cNvPr id="19" name="TextBox 18"/>
          <p:cNvSpPr txBox="1"/>
          <p:nvPr/>
        </p:nvSpPr>
        <p:spPr>
          <a:xfrm>
            <a:off x="8522207" y="1709928"/>
            <a:ext cx="2203704" cy="438912"/>
          </a:xfrm>
          <a:prstGeom prst="rect">
            <a:avLst/>
          </a:prstGeom>
          <a:noFill/>
        </p:spPr>
        <p:txBody>
          <a:bodyPr wrap="none" lIns="109728" tIns="109728" rIns="109728" bIns="109728" anchor="ctr">
            <a:spAutoFit/>
          </a:bodyPr>
          <a:lstStyle/>
          <a:p>
            <a:pPr algn="l">
              <a:defRPr sz="2400" b="1">
                <a:solidFill>
                  <a:srgbClr val="193144"/>
                </a:solidFill>
                <a:latin typeface="Aptos"/>
              </a:defRPr>
            </a:pPr>
            <a:r>
              <a:t>11,901</a:t>
            </a:r>
          </a:p>
        </p:txBody>
      </p:sp>
      <p:sp>
        <p:nvSpPr>
          <p:cNvPr id="20" name="TextBox 19"/>
          <p:cNvSpPr txBox="1"/>
          <p:nvPr/>
        </p:nvSpPr>
        <p:spPr>
          <a:xfrm>
            <a:off x="8522207" y="2203704"/>
            <a:ext cx="2203704" cy="228600"/>
          </a:xfrm>
          <a:prstGeom prst="rect">
            <a:avLst/>
          </a:prstGeom>
          <a:noFill/>
        </p:spPr>
        <p:txBody>
          <a:bodyPr wrap="none" lIns="109728" tIns="109728" rIns="109728" bIns="109728" anchor="ctr">
            <a:spAutoFit/>
          </a:bodyPr>
          <a:lstStyle/>
          <a:p>
            <a:pPr algn="l">
              <a:defRPr sz="900" b="0">
                <a:solidFill>
                  <a:srgbClr val="5B6973"/>
                </a:solidFill>
                <a:latin typeface="Aptos"/>
              </a:defRPr>
            </a:pPr>
            <a:r>
              <a:t>30% split</a:t>
            </a:r>
          </a:p>
        </p:txBody>
      </p:sp>
      <p:sp>
        <p:nvSpPr>
          <p:cNvPr id="21" name="TextBox 20"/>
          <p:cNvSpPr txBox="1"/>
          <p:nvPr/>
        </p:nvSpPr>
        <p:spPr>
          <a:xfrm>
            <a:off x="658368" y="2971800"/>
            <a:ext cx="3200400" cy="320040"/>
          </a:xfrm>
          <a:prstGeom prst="rect">
            <a:avLst/>
          </a:prstGeom>
          <a:noFill/>
        </p:spPr>
        <p:txBody>
          <a:bodyPr wrap="none" lIns="109728" tIns="109728" rIns="109728" bIns="109728" anchor="ctr">
            <a:spAutoFit/>
          </a:bodyPr>
          <a:lstStyle/>
          <a:p>
            <a:pPr algn="l">
              <a:defRPr sz="1400" b="1">
                <a:solidFill>
                  <a:srgbClr val="193144"/>
                </a:solidFill>
                <a:latin typeface="Aptos"/>
              </a:defRPr>
            </a:pPr>
            <a:r>
              <a:t>Main data-quality problems</a:t>
            </a:r>
          </a:p>
        </p:txBody>
      </p:sp>
      <p:sp>
        <p:nvSpPr>
          <p:cNvPr id="22" name="Rounded Rectangle 21"/>
          <p:cNvSpPr/>
          <p:nvPr/>
        </p:nvSpPr>
        <p:spPr>
          <a:xfrm>
            <a:off x="640080" y="3383280"/>
            <a:ext cx="5212080" cy="2148840"/>
          </a:xfrm>
          <a:prstGeom prst="roundRect">
            <a:avLst/>
          </a:prstGeom>
          <a:solidFill>
            <a:srgbClr val="F7F9FA"/>
          </a:solidFill>
          <a:ln>
            <a:solidFill>
              <a:srgbClr val="F7F9FA"/>
            </a:solidFill>
          </a:ln>
        </p:spPr>
        <p:style>
          <a:lnRef idx="1">
            <a:schemeClr val="accent1"/>
          </a:lnRef>
          <a:fillRef idx="3">
            <a:schemeClr val="accent1"/>
          </a:fillRef>
          <a:effectRef idx="2">
            <a:schemeClr val="accent1"/>
          </a:effectRef>
          <a:fontRef idx="minor">
            <a:schemeClr val="lt1"/>
          </a:fontRef>
        </p:style>
        <p:txBody>
          <a:bodyPr lIns="164592" tIns="109728" rIns="164592" bIns="109728" rtlCol="0" anchor="ctr"/>
          <a:lstStyle/>
          <a:p>
            <a:pPr algn="ctr">
              <a:spcAft>
                <a:spcPts val="800"/>
              </a:spcAft>
              <a:defRPr sz="1400">
                <a:solidFill>
                  <a:srgbClr val="202D37"/>
                </a:solidFill>
                <a:latin typeface="Aptos"/>
              </a:defRPr>
            </a:pPr>
            <a:r>
              <a:t>• 332 records lack a closed timestamp and cannot supply resolution time.</a:t>
            </a:r>
          </a:p>
          <a:p>
            <a:pPr>
              <a:spcAft>
                <a:spcPts val="800"/>
              </a:spcAft>
              <a:defRPr sz="1400">
                <a:solidFill>
                  <a:srgbClr val="202D37"/>
                </a:solidFill>
                <a:latin typeface="Aptos"/>
              </a:defRPr>
            </a:pPr>
            <a:r>
              <a:t>• due_date is 99.415% missing; additional_details is 56.320% missing.</a:t>
            </a:r>
          </a:p>
          <a:p>
            <a:pPr>
              <a:spcAft>
                <a:spcPts val="800"/>
              </a:spcAft>
              <a:defRPr sz="1400">
                <a:solidFill>
                  <a:srgbClr val="202D37"/>
                </a:solidFill>
                <a:latin typeface="Aptos"/>
              </a:defRPr>
            </a:pPr>
            <a:r>
              <a:t>• High-cardinality and redundant fields require simplification.</a:t>
            </a:r>
          </a:p>
        </p:txBody>
      </p:sp>
      <p:sp>
        <p:nvSpPr>
          <p:cNvPr id="23" name="TextBox 22"/>
          <p:cNvSpPr txBox="1"/>
          <p:nvPr/>
        </p:nvSpPr>
        <p:spPr>
          <a:xfrm>
            <a:off x="6217920" y="2971800"/>
            <a:ext cx="3200400" cy="320040"/>
          </a:xfrm>
          <a:prstGeom prst="rect">
            <a:avLst/>
          </a:prstGeom>
          <a:noFill/>
        </p:spPr>
        <p:txBody>
          <a:bodyPr wrap="none" lIns="109728" tIns="109728" rIns="109728" bIns="109728" anchor="ctr">
            <a:spAutoFit/>
          </a:bodyPr>
          <a:lstStyle/>
          <a:p>
            <a:pPr algn="l">
              <a:defRPr sz="1400" b="1">
                <a:solidFill>
                  <a:srgbClr val="193144"/>
                </a:solidFill>
                <a:latin typeface="Aptos"/>
              </a:defRPr>
            </a:pPr>
            <a:r>
              <a:t>Final predictor set</a:t>
            </a:r>
          </a:p>
        </p:txBody>
      </p:sp>
      <p:sp>
        <p:nvSpPr>
          <p:cNvPr id="24" name="Rounded Rectangle 23"/>
          <p:cNvSpPr/>
          <p:nvPr/>
        </p:nvSpPr>
        <p:spPr>
          <a:xfrm>
            <a:off x="6172200" y="3383280"/>
            <a:ext cx="5120640" cy="2148840"/>
          </a:xfrm>
          <a:prstGeom prst="roundRect">
            <a:avLst/>
          </a:prstGeom>
          <a:solidFill>
            <a:srgbClr val="EFF6F7"/>
          </a:solidFill>
          <a:ln>
            <a:solidFill>
              <a:srgbClr val="EFF6F7"/>
            </a:solidFill>
          </a:ln>
        </p:spPr>
        <p:style>
          <a:lnRef idx="1">
            <a:schemeClr val="accent1"/>
          </a:lnRef>
          <a:fillRef idx="3">
            <a:schemeClr val="accent1"/>
          </a:fillRef>
          <a:effectRef idx="2">
            <a:schemeClr val="accent1"/>
          </a:effectRef>
          <a:fontRef idx="minor">
            <a:schemeClr val="lt1"/>
          </a:fontRef>
        </p:style>
        <p:txBody>
          <a:bodyPr lIns="164592" tIns="109728" rIns="164592" bIns="109728" rtlCol="0" anchor="ctr"/>
          <a:lstStyle/>
          <a:p>
            <a:pPr algn="ctr">
              <a:spcAft>
                <a:spcPts val="800"/>
              </a:spcAft>
              <a:defRPr sz="1400">
                <a:solidFill>
                  <a:srgbClr val="202D37"/>
                </a:solidFill>
                <a:latin typeface="Aptos"/>
              </a:defRPr>
            </a:pPr>
            <a:r>
              <a:t>• Problem type, borough, submission channel, weekday, hour sine, and hour cosine.</a:t>
            </a:r>
          </a:p>
          <a:p>
            <a:pPr>
              <a:spcAft>
                <a:spcPts val="800"/>
              </a:spcAft>
              <a:defRPr sz="1400">
                <a:solidFill>
                  <a:srgbClr val="202D37"/>
                </a:solidFill>
                <a:latin typeface="Aptos"/>
              </a:defRPr>
            </a:pPr>
            <a:r>
              <a:t>• Agency omitted because problem type largely identifies agency.</a:t>
            </a:r>
          </a:p>
          <a:p>
            <a:pPr>
              <a:spcAft>
                <a:spcPts val="800"/>
              </a:spcAft>
              <a:defRPr sz="1400">
                <a:solidFill>
                  <a:srgbClr val="202D37"/>
                </a:solidFill>
                <a:latin typeface="Aptos"/>
              </a:defRPr>
            </a:pPr>
            <a:r>
              <a:t>• Later outcome fields are excluded to prevent data leakage.</a:t>
            </a:r>
          </a:p>
        </p:txBody>
      </p:sp>
      <p:sp>
        <p:nvSpPr>
          <p:cNvPr id="25" name="TextBox 24"/>
          <p:cNvSpPr txBox="1"/>
          <p:nvPr/>
        </p:nvSpPr>
        <p:spPr>
          <a:xfrm>
            <a:off x="10744200" y="6473952"/>
            <a:ext cx="914400" cy="182880"/>
          </a:xfrm>
          <a:prstGeom prst="rect">
            <a:avLst/>
          </a:prstGeom>
          <a:noFill/>
        </p:spPr>
        <p:txBody>
          <a:bodyPr wrap="none">
            <a:spAutoFit/>
          </a:bodyPr>
          <a:lstStyle/>
          <a:p>
            <a:pPr algn="r">
              <a:defRPr sz="900">
                <a:solidFill>
                  <a:srgbClr val="5B6973"/>
                </a:solidFill>
              </a:defRPr>
            </a:pPr>
            <a: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C8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1064240" cy="502920"/>
          </a:xfrm>
          <a:prstGeom prst="rect">
            <a:avLst/>
          </a:prstGeom>
          <a:noFill/>
        </p:spPr>
        <p:txBody>
          <a:bodyPr wrap="none">
            <a:spAutoFit/>
          </a:bodyPr>
          <a:lstStyle/>
          <a:p>
            <a:pPr>
              <a:defRPr sz="2500" b="1">
                <a:solidFill>
                  <a:srgbClr val="193144"/>
                </a:solidFill>
                <a:latin typeface="Aptos Display"/>
              </a:defRPr>
            </a:pPr>
            <a:r>
              <a:t>3. What the sample looks like</a:t>
            </a:r>
          </a:p>
        </p:txBody>
      </p:sp>
      <p:sp>
        <p:nvSpPr>
          <p:cNvPr id="4" name="TextBox 3"/>
          <p:cNvSpPr txBox="1"/>
          <p:nvPr/>
        </p:nvSpPr>
        <p:spPr>
          <a:xfrm>
            <a:off x="530352" y="768096"/>
            <a:ext cx="10972800" cy="320040"/>
          </a:xfrm>
          <a:prstGeom prst="rect">
            <a:avLst/>
          </a:prstGeom>
          <a:noFill/>
        </p:spPr>
        <p:txBody>
          <a:bodyPr wrap="none">
            <a:spAutoFit/>
          </a:bodyPr>
          <a:lstStyle/>
          <a:p>
            <a:pPr>
              <a:defRPr sz="1050">
                <a:solidFill>
                  <a:srgbClr val="5B6973"/>
                </a:solidFill>
                <a:latin typeface="Aptos"/>
              </a:defRPr>
            </a:pPr>
            <a:r>
              <a:t>Request mix is concentrated by problem, agency, borough, and channel</a:t>
            </a:r>
          </a:p>
        </p:txBody>
      </p:sp>
      <p:graphicFrame>
        <p:nvGraphicFramePr>
          <p:cNvPr id="5" name="Chart 4"/>
          <p:cNvGraphicFramePr>
            <a:graphicFrameLocks noGrp="1"/>
          </p:cNvGraphicFramePr>
          <p:nvPr/>
        </p:nvGraphicFramePr>
        <p:xfrm>
          <a:off x="594360" y="1325880"/>
          <a:ext cx="5394960" cy="306324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685800" y="4526280"/>
            <a:ext cx="5120640" cy="502920"/>
          </a:xfrm>
          <a:prstGeom prst="rect">
            <a:avLst/>
          </a:prstGeom>
          <a:noFill/>
        </p:spPr>
        <p:txBody>
          <a:bodyPr wrap="none" lIns="109728" tIns="109728" rIns="109728" bIns="109728" anchor="ctr">
            <a:spAutoFit/>
          </a:bodyPr>
          <a:lstStyle/>
          <a:p>
            <a:pPr algn="l">
              <a:defRPr sz="1100" b="0">
                <a:solidFill>
                  <a:srgbClr val="5B6973"/>
                </a:solidFill>
                <a:latin typeface="Aptos"/>
              </a:defRPr>
            </a:pPr>
            <a:r>
              <a:t>Most common problem types in the supplied sample</a:t>
            </a:r>
          </a:p>
        </p:txBody>
      </p:sp>
      <p:graphicFrame>
        <p:nvGraphicFramePr>
          <p:cNvPr id="7" name="Chart 6"/>
          <p:cNvGraphicFramePr>
            <a:graphicFrameLocks noGrp="1"/>
          </p:cNvGraphicFramePr>
          <p:nvPr/>
        </p:nvGraphicFramePr>
        <p:xfrm>
          <a:off x="6263640" y="1325880"/>
          <a:ext cx="525780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p:cNvSpPr txBox="1"/>
          <p:nvPr/>
        </p:nvSpPr>
        <p:spPr>
          <a:xfrm>
            <a:off x="6355080" y="4526280"/>
            <a:ext cx="5029200" cy="502920"/>
          </a:xfrm>
          <a:prstGeom prst="rect">
            <a:avLst/>
          </a:prstGeom>
          <a:noFill/>
        </p:spPr>
        <p:txBody>
          <a:bodyPr wrap="none" lIns="109728" tIns="109728" rIns="109728" bIns="109728" anchor="ctr">
            <a:spAutoFit/>
          </a:bodyPr>
          <a:lstStyle/>
          <a:p>
            <a:pPr algn="l">
              <a:defRPr sz="1100" b="0">
                <a:solidFill>
                  <a:srgbClr val="5B6973"/>
                </a:solidFill>
                <a:latin typeface="Aptos"/>
              </a:defRPr>
            </a:pPr>
            <a:r>
              <a:t>Requests by borough</a:t>
            </a:r>
          </a:p>
        </p:txBody>
      </p:sp>
      <p:sp>
        <p:nvSpPr>
          <p:cNvPr id="9" name="Rounded Rectangle 8"/>
          <p:cNvSpPr/>
          <p:nvPr/>
        </p:nvSpPr>
        <p:spPr>
          <a:xfrm>
            <a:off x="685800" y="5166360"/>
            <a:ext cx="10698480" cy="685800"/>
          </a:xfrm>
          <a:prstGeom prst="roundRect">
            <a:avLst/>
          </a:prstGeom>
          <a:solidFill>
            <a:srgbClr val="F7F9FA"/>
          </a:solidFill>
          <a:ln>
            <a:solidFill>
              <a:srgbClr val="F7F9F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l">
              <a:defRPr sz="1400" b="0">
                <a:solidFill>
                  <a:srgbClr val="202D37"/>
                </a:solidFill>
                <a:latin typeface="Aptos"/>
              </a:defRPr>
            </a:pPr>
            <a:r>
              <a:rPr dirty="0"/>
              <a:t>NYPD accounts for 18,997 records, followed by HPD (7,445) and DSNY (4,331). These counts describe the supplied sample</a:t>
            </a:r>
            <a:r>
              <a:rPr lang="en-US" dirty="0"/>
              <a:t> </a:t>
            </a:r>
            <a:r>
              <a:rPr dirty="0"/>
              <a:t>not verified citywide demand.</a:t>
            </a:r>
          </a:p>
        </p:txBody>
      </p:sp>
      <p:sp>
        <p:nvSpPr>
          <p:cNvPr id="10" name="TextBox 9"/>
          <p:cNvSpPr txBox="1"/>
          <p:nvPr/>
        </p:nvSpPr>
        <p:spPr>
          <a:xfrm>
            <a:off x="10744200" y="6473952"/>
            <a:ext cx="914400" cy="182880"/>
          </a:xfrm>
          <a:prstGeom prst="rect">
            <a:avLst/>
          </a:prstGeom>
          <a:noFill/>
        </p:spPr>
        <p:txBody>
          <a:bodyPr wrap="none">
            <a:spAutoFit/>
          </a:bodyPr>
          <a:lstStyle/>
          <a:p>
            <a:pPr algn="r">
              <a:defRPr sz="900">
                <a:solidFill>
                  <a:srgbClr val="5B6973"/>
                </a:solidFill>
              </a:defRPr>
            </a:pPr>
            <a: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C8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1064240" cy="502920"/>
          </a:xfrm>
          <a:prstGeom prst="rect">
            <a:avLst/>
          </a:prstGeom>
          <a:noFill/>
        </p:spPr>
        <p:txBody>
          <a:bodyPr wrap="none">
            <a:spAutoFit/>
          </a:bodyPr>
          <a:lstStyle/>
          <a:p>
            <a:pPr>
              <a:defRPr sz="2500" b="1">
                <a:solidFill>
                  <a:srgbClr val="193144"/>
                </a:solidFill>
                <a:latin typeface="Aptos Display"/>
              </a:defRPr>
            </a:pPr>
            <a:r>
              <a:t>4. Finding: closure time is extremely right-skewed</a:t>
            </a:r>
          </a:p>
        </p:txBody>
      </p:sp>
      <p:sp>
        <p:nvSpPr>
          <p:cNvPr id="4" name="TextBox 3"/>
          <p:cNvSpPr txBox="1"/>
          <p:nvPr/>
        </p:nvSpPr>
        <p:spPr>
          <a:xfrm>
            <a:off x="530352" y="768096"/>
            <a:ext cx="10972800" cy="320040"/>
          </a:xfrm>
          <a:prstGeom prst="rect">
            <a:avLst/>
          </a:prstGeom>
          <a:noFill/>
        </p:spPr>
        <p:txBody>
          <a:bodyPr wrap="none">
            <a:spAutoFit/>
          </a:bodyPr>
          <a:lstStyle/>
          <a:p>
            <a:pPr>
              <a:defRPr sz="1050">
                <a:solidFill>
                  <a:srgbClr val="5B6973"/>
                </a:solidFill>
                <a:latin typeface="Aptos"/>
              </a:defRPr>
            </a:pPr>
            <a:r>
              <a:t>A small set of very long cases dominates the hour scale</a:t>
            </a:r>
          </a:p>
        </p:txBody>
      </p:sp>
      <p:graphicFrame>
        <p:nvGraphicFramePr>
          <p:cNvPr id="5" name="Chart 4"/>
          <p:cNvGraphicFramePr>
            <a:graphicFrameLocks noGrp="1"/>
          </p:cNvGraphicFramePr>
          <p:nvPr/>
        </p:nvGraphicFramePr>
        <p:xfrm>
          <a:off x="640080" y="1325880"/>
          <a:ext cx="6217920" cy="3566160"/>
        </p:xfrm>
        <a:graphic>
          <a:graphicData uri="http://schemas.openxmlformats.org/drawingml/2006/chart">
            <c:chart xmlns:c="http://schemas.openxmlformats.org/drawingml/2006/chart" xmlns:r="http://schemas.openxmlformats.org/officeDocument/2006/relationships" r:id="rId2"/>
          </a:graphicData>
        </a:graphic>
      </p:graphicFrame>
      <p:sp>
        <p:nvSpPr>
          <p:cNvPr id="6" name="Rounded Rectangle 5"/>
          <p:cNvSpPr/>
          <p:nvPr/>
        </p:nvSpPr>
        <p:spPr>
          <a:xfrm>
            <a:off x="7315200" y="1417320"/>
            <a:ext cx="1828800" cy="1234440"/>
          </a:xfrm>
          <a:prstGeom prst="roundRect">
            <a:avLst/>
          </a:prstGeom>
          <a:solidFill>
            <a:srgbClr val="EFF6F7"/>
          </a:solidFill>
          <a:ln>
            <a:solidFill>
              <a:srgbClr val="D7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24927" y="1527048"/>
            <a:ext cx="1609344" cy="256032"/>
          </a:xfrm>
          <a:prstGeom prst="rect">
            <a:avLst/>
          </a:prstGeom>
          <a:noFill/>
        </p:spPr>
        <p:txBody>
          <a:bodyPr wrap="none" lIns="109728" tIns="109728" rIns="109728" bIns="109728" anchor="ctr">
            <a:spAutoFit/>
          </a:bodyPr>
          <a:lstStyle/>
          <a:p>
            <a:pPr algn="l">
              <a:defRPr sz="1000" b="1">
                <a:solidFill>
                  <a:srgbClr val="5B6973"/>
                </a:solidFill>
                <a:latin typeface="Aptos"/>
              </a:defRPr>
            </a:pPr>
            <a:r>
              <a:t>ZERO-HOUR</a:t>
            </a:r>
          </a:p>
        </p:txBody>
      </p:sp>
      <p:sp>
        <p:nvSpPr>
          <p:cNvPr id="8" name="TextBox 7"/>
          <p:cNvSpPr txBox="1"/>
          <p:nvPr/>
        </p:nvSpPr>
        <p:spPr>
          <a:xfrm>
            <a:off x="7424927" y="1801368"/>
            <a:ext cx="1609344" cy="438912"/>
          </a:xfrm>
          <a:prstGeom prst="rect">
            <a:avLst/>
          </a:prstGeom>
          <a:noFill/>
        </p:spPr>
        <p:txBody>
          <a:bodyPr wrap="none" lIns="109728" tIns="109728" rIns="109728" bIns="109728" anchor="ctr">
            <a:spAutoFit/>
          </a:bodyPr>
          <a:lstStyle/>
          <a:p>
            <a:pPr algn="l">
              <a:defRPr sz="2400" b="1">
                <a:solidFill>
                  <a:srgbClr val="193144"/>
                </a:solidFill>
                <a:latin typeface="Aptos"/>
              </a:defRPr>
            </a:pPr>
            <a:r>
              <a:t>677</a:t>
            </a:r>
          </a:p>
        </p:txBody>
      </p:sp>
      <p:sp>
        <p:nvSpPr>
          <p:cNvPr id="9" name="Rounded Rectangle 8"/>
          <p:cNvSpPr/>
          <p:nvPr/>
        </p:nvSpPr>
        <p:spPr>
          <a:xfrm>
            <a:off x="9372600" y="1417320"/>
            <a:ext cx="1828800" cy="1234440"/>
          </a:xfrm>
          <a:prstGeom prst="roundRect">
            <a:avLst/>
          </a:prstGeom>
          <a:solidFill>
            <a:srgbClr val="EFF6F7"/>
          </a:solidFill>
          <a:ln>
            <a:solidFill>
              <a:srgbClr val="D7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482328" y="1527048"/>
            <a:ext cx="1609344" cy="256032"/>
          </a:xfrm>
          <a:prstGeom prst="rect">
            <a:avLst/>
          </a:prstGeom>
          <a:noFill/>
        </p:spPr>
        <p:txBody>
          <a:bodyPr wrap="none" lIns="109728" tIns="109728" rIns="109728" bIns="109728" anchor="ctr">
            <a:spAutoFit/>
          </a:bodyPr>
          <a:lstStyle/>
          <a:p>
            <a:pPr algn="l">
              <a:defRPr sz="1000" b="1">
                <a:solidFill>
                  <a:srgbClr val="5B6973"/>
                </a:solidFill>
                <a:latin typeface="Aptos"/>
              </a:defRPr>
            </a:pPr>
            <a:r>
              <a:t>&gt; 30 DAYS</a:t>
            </a:r>
          </a:p>
        </p:txBody>
      </p:sp>
      <p:sp>
        <p:nvSpPr>
          <p:cNvPr id="11" name="TextBox 10"/>
          <p:cNvSpPr txBox="1"/>
          <p:nvPr/>
        </p:nvSpPr>
        <p:spPr>
          <a:xfrm>
            <a:off x="9482328" y="1801368"/>
            <a:ext cx="1609344" cy="438912"/>
          </a:xfrm>
          <a:prstGeom prst="rect">
            <a:avLst/>
          </a:prstGeom>
          <a:noFill/>
        </p:spPr>
        <p:txBody>
          <a:bodyPr wrap="none" lIns="109728" tIns="109728" rIns="109728" bIns="109728" anchor="ctr">
            <a:spAutoFit/>
          </a:bodyPr>
          <a:lstStyle/>
          <a:p>
            <a:pPr algn="l">
              <a:defRPr sz="2400" b="1">
                <a:solidFill>
                  <a:srgbClr val="193144"/>
                </a:solidFill>
                <a:latin typeface="Aptos"/>
              </a:defRPr>
            </a:pPr>
            <a:r>
              <a:t>2,930</a:t>
            </a:r>
          </a:p>
        </p:txBody>
      </p:sp>
      <p:sp>
        <p:nvSpPr>
          <p:cNvPr id="12" name="Rounded Rectangle 11"/>
          <p:cNvSpPr/>
          <p:nvPr/>
        </p:nvSpPr>
        <p:spPr>
          <a:xfrm>
            <a:off x="7315200" y="2971800"/>
            <a:ext cx="3886200" cy="1417320"/>
          </a:xfrm>
          <a:prstGeom prst="roundRect">
            <a:avLst/>
          </a:prstGeom>
          <a:solidFill>
            <a:srgbClr val="EFF6F7"/>
          </a:solidFill>
          <a:ln>
            <a:solidFill>
              <a:srgbClr val="EFF6F7"/>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l">
              <a:defRPr sz="1500" b="0">
                <a:solidFill>
                  <a:srgbClr val="202D37"/>
                </a:solidFill>
                <a:latin typeface="Aptos"/>
              </a:defRPr>
            </a:pPr>
            <a:r>
              <a:t>The median is only 6.68 hours, while the mean is 251.36 hours and the 95th percentile is 1,251.44 hours. This is why the linear model uses log(1 + hours).</a:t>
            </a:r>
          </a:p>
        </p:txBody>
      </p:sp>
      <p:sp>
        <p:nvSpPr>
          <p:cNvPr id="13" name="TextBox 12"/>
          <p:cNvSpPr txBox="1"/>
          <p:nvPr/>
        </p:nvSpPr>
        <p:spPr>
          <a:xfrm>
            <a:off x="685800" y="5257800"/>
            <a:ext cx="10607040" cy="502920"/>
          </a:xfrm>
          <a:prstGeom prst="rect">
            <a:avLst/>
          </a:prstGeom>
          <a:noFill/>
        </p:spPr>
        <p:txBody>
          <a:bodyPr wrap="none" lIns="109728" tIns="109728" rIns="109728" bIns="109728" anchor="ctr">
            <a:spAutoFit/>
          </a:bodyPr>
          <a:lstStyle/>
          <a:p>
            <a:pPr algn="l">
              <a:defRPr sz="1200" b="0">
                <a:solidFill>
                  <a:srgbClr val="5B6973"/>
                </a:solidFill>
                <a:latin typeface="Aptos"/>
              </a:defRPr>
            </a:pPr>
            <a:r>
              <a:t>Maximum observed recorded closure time: 9,888.18 hours. Long durations were retained because the file does not establish that they are errors.</a:t>
            </a:r>
          </a:p>
        </p:txBody>
      </p:sp>
      <p:sp>
        <p:nvSpPr>
          <p:cNvPr id="14" name="TextBox 13"/>
          <p:cNvSpPr txBox="1"/>
          <p:nvPr/>
        </p:nvSpPr>
        <p:spPr>
          <a:xfrm>
            <a:off x="10744200" y="6473952"/>
            <a:ext cx="914400" cy="182880"/>
          </a:xfrm>
          <a:prstGeom prst="rect">
            <a:avLst/>
          </a:prstGeom>
          <a:noFill/>
        </p:spPr>
        <p:txBody>
          <a:bodyPr wrap="none">
            <a:spAutoFit/>
          </a:bodyPr>
          <a:lstStyle/>
          <a:p>
            <a:pPr algn="r">
              <a:defRPr sz="900">
                <a:solidFill>
                  <a:srgbClr val="5B6973"/>
                </a:solidFill>
              </a:defRPr>
            </a:pPr>
            <a: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C8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1064240" cy="502920"/>
          </a:xfrm>
          <a:prstGeom prst="rect">
            <a:avLst/>
          </a:prstGeom>
          <a:noFill/>
        </p:spPr>
        <p:txBody>
          <a:bodyPr wrap="none">
            <a:spAutoFit/>
          </a:bodyPr>
          <a:lstStyle/>
          <a:p>
            <a:pPr>
              <a:defRPr sz="2500" b="1">
                <a:solidFill>
                  <a:srgbClr val="193144"/>
                </a:solidFill>
                <a:latin typeface="Aptos Display"/>
              </a:defRPr>
            </a:pPr>
            <a:r>
              <a:t>5. Finding: closure patterns differ sharply by request type</a:t>
            </a:r>
          </a:p>
        </p:txBody>
      </p:sp>
      <p:sp>
        <p:nvSpPr>
          <p:cNvPr id="4" name="TextBox 3"/>
          <p:cNvSpPr txBox="1"/>
          <p:nvPr/>
        </p:nvSpPr>
        <p:spPr>
          <a:xfrm>
            <a:off x="530352" y="768096"/>
            <a:ext cx="10972800" cy="320040"/>
          </a:xfrm>
          <a:prstGeom prst="rect">
            <a:avLst/>
          </a:prstGeom>
          <a:noFill/>
        </p:spPr>
        <p:txBody>
          <a:bodyPr wrap="none">
            <a:spAutoFit/>
          </a:bodyPr>
          <a:lstStyle/>
          <a:p>
            <a:pPr>
              <a:defRPr sz="1050">
                <a:solidFill>
                  <a:srgbClr val="5B6973"/>
                </a:solidFill>
                <a:latin typeface="Aptos"/>
              </a:defRPr>
            </a:pPr>
            <a:r>
              <a:t>Descriptive differences are useful context, but they are not causal performance rankings</a:t>
            </a:r>
          </a:p>
        </p:txBody>
      </p:sp>
      <p:graphicFrame>
        <p:nvGraphicFramePr>
          <p:cNvPr id="5" name="Chart 4"/>
          <p:cNvGraphicFramePr>
            <a:graphicFrameLocks noGrp="1"/>
          </p:cNvGraphicFramePr>
          <p:nvPr/>
        </p:nvGraphicFramePr>
        <p:xfrm>
          <a:off x="594360" y="1325880"/>
          <a:ext cx="5394960" cy="329184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731520" y="4709160"/>
            <a:ext cx="5029200" cy="502920"/>
          </a:xfrm>
          <a:prstGeom prst="rect">
            <a:avLst/>
          </a:prstGeom>
          <a:noFill/>
        </p:spPr>
        <p:txBody>
          <a:bodyPr wrap="none" lIns="109728" tIns="109728" rIns="109728" bIns="109728" anchor="ctr">
            <a:spAutoFit/>
          </a:bodyPr>
          <a:lstStyle/>
          <a:p>
            <a:pPr algn="l">
              <a:defRPr sz="1100" b="0">
                <a:solidFill>
                  <a:srgbClr val="5B6973"/>
                </a:solidFill>
                <a:latin typeface="Aptos"/>
              </a:defRPr>
            </a:pPr>
            <a:r>
              <a:t>Median recorded closure hours by selected agencies (n ≥ 100)</a:t>
            </a:r>
          </a:p>
        </p:txBody>
      </p:sp>
      <p:graphicFrame>
        <p:nvGraphicFramePr>
          <p:cNvPr id="7" name="Chart 6"/>
          <p:cNvGraphicFramePr>
            <a:graphicFrameLocks noGrp="1"/>
          </p:cNvGraphicFramePr>
          <p:nvPr/>
        </p:nvGraphicFramePr>
        <p:xfrm>
          <a:off x="6263640" y="1325880"/>
          <a:ext cx="521208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p:cNvSpPr txBox="1"/>
          <p:nvPr/>
        </p:nvSpPr>
        <p:spPr>
          <a:xfrm>
            <a:off x="6400800" y="4709160"/>
            <a:ext cx="4846320" cy="502920"/>
          </a:xfrm>
          <a:prstGeom prst="rect">
            <a:avLst/>
          </a:prstGeom>
          <a:noFill/>
        </p:spPr>
        <p:txBody>
          <a:bodyPr wrap="none" lIns="109728" tIns="109728" rIns="109728" bIns="109728" anchor="ctr">
            <a:spAutoFit/>
          </a:bodyPr>
          <a:lstStyle/>
          <a:p>
            <a:pPr algn="l">
              <a:defRPr sz="1100" b="0">
                <a:solidFill>
                  <a:srgbClr val="5B6973"/>
                </a:solidFill>
                <a:latin typeface="Aptos"/>
              </a:defRPr>
            </a:pPr>
            <a:r>
              <a:t>Median recorded closure hours by borough</a:t>
            </a:r>
          </a:p>
        </p:txBody>
      </p:sp>
      <p:sp>
        <p:nvSpPr>
          <p:cNvPr id="9" name="Rounded Rectangle 8"/>
          <p:cNvSpPr/>
          <p:nvPr/>
        </p:nvSpPr>
        <p:spPr>
          <a:xfrm>
            <a:off x="685800" y="5349240"/>
            <a:ext cx="10561320" cy="640080"/>
          </a:xfrm>
          <a:prstGeom prst="roundRect">
            <a:avLst/>
          </a:prstGeom>
          <a:solidFill>
            <a:srgbClr val="F7F9FA"/>
          </a:solidFill>
          <a:ln>
            <a:solidFill>
              <a:srgbClr val="F7F9F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l">
              <a:defRPr sz="1300" b="0">
                <a:solidFill>
                  <a:srgbClr val="202D37"/>
                </a:solidFill>
                <a:latin typeface="Aptos"/>
              </a:defRPr>
            </a:pPr>
            <a:r>
              <a:t>Problem and agency are highly related: 138 of 142 problem types occur entirely within one agency. The model therefore keeps problem type and omits agency.</a:t>
            </a:r>
          </a:p>
        </p:txBody>
      </p:sp>
      <p:sp>
        <p:nvSpPr>
          <p:cNvPr id="10" name="TextBox 9"/>
          <p:cNvSpPr txBox="1"/>
          <p:nvPr/>
        </p:nvSpPr>
        <p:spPr>
          <a:xfrm>
            <a:off x="10744200" y="6473952"/>
            <a:ext cx="914400" cy="182880"/>
          </a:xfrm>
          <a:prstGeom prst="rect">
            <a:avLst/>
          </a:prstGeom>
          <a:noFill/>
        </p:spPr>
        <p:txBody>
          <a:bodyPr wrap="none">
            <a:spAutoFit/>
          </a:bodyPr>
          <a:lstStyle/>
          <a:p>
            <a:pPr algn="r">
              <a:defRPr sz="900">
                <a:solidFill>
                  <a:srgbClr val="5B6973"/>
                </a:solidFill>
              </a:defRPr>
            </a:pPr>
            <a: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C8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1064240" cy="502920"/>
          </a:xfrm>
          <a:prstGeom prst="rect">
            <a:avLst/>
          </a:prstGeom>
          <a:noFill/>
        </p:spPr>
        <p:txBody>
          <a:bodyPr wrap="none">
            <a:spAutoFit/>
          </a:bodyPr>
          <a:lstStyle/>
          <a:p>
            <a:pPr>
              <a:defRPr sz="2500" b="1">
                <a:solidFill>
                  <a:srgbClr val="193144"/>
                </a:solidFill>
                <a:latin typeface="Aptos Display"/>
              </a:defRPr>
            </a:pPr>
            <a:r>
              <a:t>6. Modeling approach</a:t>
            </a:r>
          </a:p>
        </p:txBody>
      </p:sp>
      <p:sp>
        <p:nvSpPr>
          <p:cNvPr id="4" name="TextBox 3"/>
          <p:cNvSpPr txBox="1"/>
          <p:nvPr/>
        </p:nvSpPr>
        <p:spPr>
          <a:xfrm>
            <a:off x="530352" y="768096"/>
            <a:ext cx="10972800" cy="320040"/>
          </a:xfrm>
          <a:prstGeom prst="rect">
            <a:avLst/>
          </a:prstGeom>
          <a:noFill/>
        </p:spPr>
        <p:txBody>
          <a:bodyPr wrap="none">
            <a:spAutoFit/>
          </a:bodyPr>
          <a:lstStyle/>
          <a:p>
            <a:pPr>
              <a:defRPr sz="1050">
                <a:solidFill>
                  <a:srgbClr val="5B6973"/>
                </a:solidFill>
                <a:latin typeface="Aptos"/>
              </a:defRPr>
            </a:pPr>
            <a:r>
              <a:t>Two models answer different operational questions</a:t>
            </a:r>
          </a:p>
        </p:txBody>
      </p:sp>
      <p:sp>
        <p:nvSpPr>
          <p:cNvPr id="5" name="Rounded Rectangle 4"/>
          <p:cNvSpPr/>
          <p:nvPr/>
        </p:nvSpPr>
        <p:spPr>
          <a:xfrm>
            <a:off x="640080" y="1325880"/>
            <a:ext cx="5166360" cy="457200"/>
          </a:xfrm>
          <a:prstGeom prst="roundRect">
            <a:avLst/>
          </a:prstGeom>
          <a:solidFill>
            <a:srgbClr val="EFF6F7"/>
          </a:solidFill>
          <a:ln>
            <a:solidFill>
              <a:srgbClr val="EFF6F7"/>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l">
              <a:defRPr sz="1800" b="1">
                <a:solidFill>
                  <a:srgbClr val="193144"/>
                </a:solidFill>
                <a:latin typeface="Aptos"/>
              </a:defRPr>
            </a:pPr>
            <a:r>
              <a:t>Linear regression</a:t>
            </a:r>
          </a:p>
        </p:txBody>
      </p:sp>
      <p:sp>
        <p:nvSpPr>
          <p:cNvPr id="6" name="TextBox 5"/>
          <p:cNvSpPr txBox="1"/>
          <p:nvPr/>
        </p:nvSpPr>
        <p:spPr>
          <a:xfrm>
            <a:off x="640080" y="1874519"/>
            <a:ext cx="5166360" cy="2423160"/>
          </a:xfrm>
          <a:prstGeom prst="rect">
            <a:avLst/>
          </a:prstGeom>
          <a:noFill/>
        </p:spPr>
        <p:txBody>
          <a:bodyPr wrap="none" lIns="164592" tIns="109728" rIns="164592" bIns="109728">
            <a:spAutoFit/>
          </a:bodyPr>
          <a:lstStyle/>
          <a:p>
            <a:pPr>
              <a:spcAft>
                <a:spcPts val="800"/>
              </a:spcAft>
              <a:defRPr sz="1400">
                <a:solidFill>
                  <a:srgbClr val="202D37"/>
                </a:solidFill>
                <a:latin typeface="Aptos"/>
              </a:defRPr>
            </a:pPr>
            <a:r>
              <a:t>• Target: log(1 + resolution_hours).</a:t>
            </a:r>
          </a:p>
          <a:p>
            <a:pPr>
              <a:spcAft>
                <a:spcPts val="800"/>
              </a:spcAft>
              <a:defRPr sz="1400">
                <a:solidFill>
                  <a:srgbClr val="202D37"/>
                </a:solidFill>
                <a:latin typeface="Aptos"/>
              </a:defRPr>
            </a:pPr>
            <a:r>
              <a:t>• Goal: estimate relative recorded closure duration.</a:t>
            </a:r>
          </a:p>
          <a:p>
            <a:pPr>
              <a:spcAft>
                <a:spcPts val="800"/>
              </a:spcAft>
              <a:defRPr sz="1400">
                <a:solidFill>
                  <a:srgbClr val="202D37"/>
                </a:solidFill>
                <a:latin typeface="Aptos"/>
              </a:defRPr>
            </a:pPr>
            <a:r>
              <a:t>• Log transform keeps zero-hour records and reduces the long-tail influence.</a:t>
            </a:r>
          </a:p>
          <a:p>
            <a:pPr>
              <a:spcAft>
                <a:spcPts val="800"/>
              </a:spcAft>
              <a:defRPr sz="1400">
                <a:solidFill>
                  <a:srgbClr val="202D37"/>
                </a:solidFill>
                <a:latin typeface="Aptos"/>
              </a:defRPr>
            </a:pPr>
            <a:r>
              <a:t>• Performance is checked on both transformed and hour scales.</a:t>
            </a:r>
          </a:p>
        </p:txBody>
      </p:sp>
      <p:sp>
        <p:nvSpPr>
          <p:cNvPr id="7" name="Rounded Rectangle 6"/>
          <p:cNvSpPr/>
          <p:nvPr/>
        </p:nvSpPr>
        <p:spPr>
          <a:xfrm>
            <a:off x="6692265" y="1316737"/>
            <a:ext cx="5166360" cy="457200"/>
          </a:xfrm>
          <a:prstGeom prst="roundRect">
            <a:avLst/>
          </a:prstGeom>
          <a:solidFill>
            <a:srgbClr val="EFF6F7"/>
          </a:solidFill>
          <a:ln>
            <a:solidFill>
              <a:srgbClr val="EFF6F7"/>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l">
              <a:defRPr sz="1800" b="1">
                <a:solidFill>
                  <a:srgbClr val="193144"/>
                </a:solidFill>
                <a:latin typeface="Aptos"/>
              </a:defRPr>
            </a:pPr>
            <a:r>
              <a:rPr dirty="0"/>
              <a:t>Logistic regression</a:t>
            </a:r>
          </a:p>
        </p:txBody>
      </p:sp>
      <p:sp>
        <p:nvSpPr>
          <p:cNvPr id="8" name="TextBox 7"/>
          <p:cNvSpPr txBox="1"/>
          <p:nvPr/>
        </p:nvSpPr>
        <p:spPr>
          <a:xfrm>
            <a:off x="6610350" y="1942721"/>
            <a:ext cx="5391150" cy="1606594"/>
          </a:xfrm>
          <a:prstGeom prst="rect">
            <a:avLst/>
          </a:prstGeom>
          <a:noFill/>
        </p:spPr>
        <p:txBody>
          <a:bodyPr wrap="square" lIns="164592" tIns="109728" rIns="164592" bIns="109728">
            <a:spAutoFit/>
          </a:bodyPr>
          <a:lstStyle/>
          <a:p>
            <a:pPr>
              <a:spcAft>
                <a:spcPts val="800"/>
              </a:spcAft>
              <a:defRPr sz="1400">
                <a:solidFill>
                  <a:srgbClr val="202D37"/>
                </a:solidFill>
                <a:latin typeface="Aptos"/>
              </a:defRPr>
            </a:pPr>
            <a:r>
              <a:rPr dirty="0"/>
              <a:t>• Target: probability a request is “slow.”</a:t>
            </a:r>
          </a:p>
          <a:p>
            <a:pPr>
              <a:spcAft>
                <a:spcPts val="800"/>
              </a:spcAft>
              <a:defRPr sz="1400">
                <a:solidFill>
                  <a:srgbClr val="202D37"/>
                </a:solidFill>
                <a:latin typeface="Aptos"/>
              </a:defRPr>
            </a:pPr>
            <a:r>
              <a:rPr dirty="0"/>
              <a:t>• Slow = above the training 75th percentile for its original problem type.</a:t>
            </a:r>
          </a:p>
          <a:p>
            <a:pPr>
              <a:spcAft>
                <a:spcPts val="800"/>
              </a:spcAft>
              <a:defRPr sz="1400">
                <a:solidFill>
                  <a:srgbClr val="202D37"/>
                </a:solidFill>
                <a:latin typeface="Aptos"/>
              </a:defRPr>
            </a:pPr>
            <a:r>
              <a:rPr dirty="0"/>
              <a:t>• Small or unseen types use the global training threshold.</a:t>
            </a:r>
          </a:p>
          <a:p>
            <a:pPr>
              <a:spcAft>
                <a:spcPts val="800"/>
              </a:spcAft>
              <a:defRPr sz="1400">
                <a:solidFill>
                  <a:srgbClr val="202D37"/>
                </a:solidFill>
                <a:latin typeface="Aptos"/>
              </a:defRPr>
            </a:pPr>
            <a:r>
              <a:rPr dirty="0"/>
              <a:t>• A 0.25 cutoff is used for screening-oriented recall.</a:t>
            </a:r>
          </a:p>
        </p:txBody>
      </p:sp>
      <p:sp>
        <p:nvSpPr>
          <p:cNvPr id="9" name="Rounded Rectangle 8"/>
          <p:cNvSpPr/>
          <p:nvPr/>
        </p:nvSpPr>
        <p:spPr>
          <a:xfrm>
            <a:off x="685800" y="4983480"/>
            <a:ext cx="10561320" cy="685800"/>
          </a:xfrm>
          <a:prstGeom prst="roundRect">
            <a:avLst/>
          </a:prstGeom>
          <a:solidFill>
            <a:srgbClr val="F7F9FA"/>
          </a:solidFill>
          <a:ln>
            <a:solidFill>
              <a:srgbClr val="F7F9F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l">
              <a:defRPr sz="1400" b="1">
                <a:solidFill>
                  <a:srgbClr val="202D37"/>
                </a:solidFill>
                <a:latin typeface="Aptos"/>
              </a:defRPr>
            </a:pPr>
            <a:r>
              <a:t>Preprocessing and thresholds are learned from training data only. Validation remains separate to reduce leakage and optimistic evaluation.</a:t>
            </a:r>
          </a:p>
        </p:txBody>
      </p:sp>
      <p:sp>
        <p:nvSpPr>
          <p:cNvPr id="10" name="TextBox 9"/>
          <p:cNvSpPr txBox="1"/>
          <p:nvPr/>
        </p:nvSpPr>
        <p:spPr>
          <a:xfrm>
            <a:off x="10744200" y="6473952"/>
            <a:ext cx="914400" cy="182880"/>
          </a:xfrm>
          <a:prstGeom prst="rect">
            <a:avLst/>
          </a:prstGeom>
          <a:noFill/>
        </p:spPr>
        <p:txBody>
          <a:bodyPr wrap="none">
            <a:spAutoFit/>
          </a:bodyPr>
          <a:lstStyle/>
          <a:p>
            <a:pPr algn="r">
              <a:defRPr sz="900">
                <a:solidFill>
                  <a:srgbClr val="5B6973"/>
                </a:solidFill>
              </a:defRPr>
            </a:pPr>
            <a: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C8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1064240" cy="502920"/>
          </a:xfrm>
          <a:prstGeom prst="rect">
            <a:avLst/>
          </a:prstGeom>
          <a:noFill/>
        </p:spPr>
        <p:txBody>
          <a:bodyPr wrap="none">
            <a:spAutoFit/>
          </a:bodyPr>
          <a:lstStyle/>
          <a:p>
            <a:pPr>
              <a:defRPr sz="2500" b="1">
                <a:solidFill>
                  <a:srgbClr val="193144"/>
                </a:solidFill>
                <a:latin typeface="Aptos Display"/>
              </a:defRPr>
            </a:pPr>
            <a:r>
              <a:t>7. Linear regression results</a:t>
            </a:r>
          </a:p>
        </p:txBody>
      </p:sp>
      <p:sp>
        <p:nvSpPr>
          <p:cNvPr id="4" name="TextBox 3"/>
          <p:cNvSpPr txBox="1"/>
          <p:nvPr/>
        </p:nvSpPr>
        <p:spPr>
          <a:xfrm>
            <a:off x="530352" y="768096"/>
            <a:ext cx="10972800" cy="320040"/>
          </a:xfrm>
          <a:prstGeom prst="rect">
            <a:avLst/>
          </a:prstGeom>
          <a:noFill/>
        </p:spPr>
        <p:txBody>
          <a:bodyPr wrap="none">
            <a:spAutoFit/>
          </a:bodyPr>
          <a:lstStyle/>
          <a:p>
            <a:pPr>
              <a:defRPr sz="1050">
                <a:solidFill>
                  <a:srgbClr val="5B6973"/>
                </a:solidFill>
                <a:latin typeface="Aptos"/>
              </a:defRPr>
            </a:pPr>
            <a:r>
              <a:t>Good transformed-scale fit does not translate into accurate completion-time forecasts</a:t>
            </a:r>
          </a:p>
        </p:txBody>
      </p:sp>
      <p:sp>
        <p:nvSpPr>
          <p:cNvPr id="5" name="Rounded Rectangle 4"/>
          <p:cNvSpPr/>
          <p:nvPr/>
        </p:nvSpPr>
        <p:spPr>
          <a:xfrm>
            <a:off x="594360" y="1325880"/>
            <a:ext cx="2423160" cy="1234440"/>
          </a:xfrm>
          <a:prstGeom prst="roundRect">
            <a:avLst/>
          </a:prstGeom>
          <a:solidFill>
            <a:srgbClr val="EFF6F7"/>
          </a:solidFill>
          <a:ln>
            <a:solidFill>
              <a:srgbClr val="D7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04088" y="1435607"/>
            <a:ext cx="2203704" cy="256032"/>
          </a:xfrm>
          <a:prstGeom prst="rect">
            <a:avLst/>
          </a:prstGeom>
          <a:noFill/>
        </p:spPr>
        <p:txBody>
          <a:bodyPr wrap="none" lIns="109728" tIns="109728" rIns="109728" bIns="109728" anchor="ctr">
            <a:spAutoFit/>
          </a:bodyPr>
          <a:lstStyle/>
          <a:p>
            <a:pPr algn="l">
              <a:defRPr sz="1000" b="1">
                <a:solidFill>
                  <a:srgbClr val="5B6973"/>
                </a:solidFill>
                <a:latin typeface="Aptos"/>
              </a:defRPr>
            </a:pPr>
            <a:r>
              <a:t>VALIDATION RMSE</a:t>
            </a:r>
          </a:p>
        </p:txBody>
      </p:sp>
      <p:sp>
        <p:nvSpPr>
          <p:cNvPr id="7" name="TextBox 6"/>
          <p:cNvSpPr txBox="1"/>
          <p:nvPr/>
        </p:nvSpPr>
        <p:spPr>
          <a:xfrm>
            <a:off x="704088" y="1709928"/>
            <a:ext cx="2203704" cy="438912"/>
          </a:xfrm>
          <a:prstGeom prst="rect">
            <a:avLst/>
          </a:prstGeom>
          <a:noFill/>
        </p:spPr>
        <p:txBody>
          <a:bodyPr wrap="none" lIns="109728" tIns="109728" rIns="109728" bIns="109728" anchor="ctr">
            <a:spAutoFit/>
          </a:bodyPr>
          <a:lstStyle/>
          <a:p>
            <a:pPr algn="l">
              <a:defRPr sz="2400" b="1">
                <a:solidFill>
                  <a:srgbClr val="193144"/>
                </a:solidFill>
                <a:latin typeface="Aptos"/>
              </a:defRPr>
            </a:pPr>
            <a:r>
              <a:t>1.3089</a:t>
            </a:r>
          </a:p>
        </p:txBody>
      </p:sp>
      <p:sp>
        <p:nvSpPr>
          <p:cNvPr id="8" name="TextBox 7"/>
          <p:cNvSpPr txBox="1"/>
          <p:nvPr/>
        </p:nvSpPr>
        <p:spPr>
          <a:xfrm>
            <a:off x="704088" y="2203704"/>
            <a:ext cx="2203704" cy="228600"/>
          </a:xfrm>
          <a:prstGeom prst="rect">
            <a:avLst/>
          </a:prstGeom>
          <a:noFill/>
        </p:spPr>
        <p:txBody>
          <a:bodyPr wrap="none" lIns="109728" tIns="109728" rIns="109728" bIns="109728" anchor="ctr">
            <a:spAutoFit/>
          </a:bodyPr>
          <a:lstStyle/>
          <a:p>
            <a:pPr algn="l">
              <a:defRPr sz="900" b="0">
                <a:solidFill>
                  <a:srgbClr val="5B6973"/>
                </a:solidFill>
                <a:latin typeface="Aptos"/>
              </a:defRPr>
            </a:pPr>
            <a:r>
              <a:t>log1p-hours</a:t>
            </a:r>
          </a:p>
        </p:txBody>
      </p:sp>
      <p:sp>
        <p:nvSpPr>
          <p:cNvPr id="9" name="Rounded Rectangle 8"/>
          <p:cNvSpPr/>
          <p:nvPr/>
        </p:nvSpPr>
        <p:spPr>
          <a:xfrm>
            <a:off x="3200400" y="1325880"/>
            <a:ext cx="2423160" cy="1234440"/>
          </a:xfrm>
          <a:prstGeom prst="roundRect">
            <a:avLst/>
          </a:prstGeom>
          <a:solidFill>
            <a:srgbClr val="EFF6F7"/>
          </a:solidFill>
          <a:ln>
            <a:solidFill>
              <a:srgbClr val="D7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10128" y="1435607"/>
            <a:ext cx="2203704" cy="256032"/>
          </a:xfrm>
          <a:prstGeom prst="rect">
            <a:avLst/>
          </a:prstGeom>
          <a:noFill/>
        </p:spPr>
        <p:txBody>
          <a:bodyPr wrap="none" lIns="109728" tIns="109728" rIns="109728" bIns="109728" anchor="ctr">
            <a:spAutoFit/>
          </a:bodyPr>
          <a:lstStyle/>
          <a:p>
            <a:pPr algn="l">
              <a:defRPr sz="1000" b="1">
                <a:solidFill>
                  <a:srgbClr val="5B6973"/>
                </a:solidFill>
                <a:latin typeface="Aptos"/>
              </a:defRPr>
            </a:pPr>
            <a:r>
              <a:t>VALIDATION MAE</a:t>
            </a:r>
          </a:p>
        </p:txBody>
      </p:sp>
      <p:sp>
        <p:nvSpPr>
          <p:cNvPr id="11" name="TextBox 10"/>
          <p:cNvSpPr txBox="1"/>
          <p:nvPr/>
        </p:nvSpPr>
        <p:spPr>
          <a:xfrm>
            <a:off x="3310128" y="1709928"/>
            <a:ext cx="2203704" cy="438912"/>
          </a:xfrm>
          <a:prstGeom prst="rect">
            <a:avLst/>
          </a:prstGeom>
          <a:noFill/>
        </p:spPr>
        <p:txBody>
          <a:bodyPr wrap="none" lIns="109728" tIns="109728" rIns="109728" bIns="109728" anchor="ctr">
            <a:spAutoFit/>
          </a:bodyPr>
          <a:lstStyle/>
          <a:p>
            <a:pPr algn="l">
              <a:defRPr sz="2400" b="1">
                <a:solidFill>
                  <a:srgbClr val="193144"/>
                </a:solidFill>
                <a:latin typeface="Aptos"/>
              </a:defRPr>
            </a:pPr>
            <a:r>
              <a:t>0.9278</a:t>
            </a:r>
          </a:p>
        </p:txBody>
      </p:sp>
      <p:sp>
        <p:nvSpPr>
          <p:cNvPr id="12" name="TextBox 11"/>
          <p:cNvSpPr txBox="1"/>
          <p:nvPr/>
        </p:nvSpPr>
        <p:spPr>
          <a:xfrm>
            <a:off x="3310128" y="2203704"/>
            <a:ext cx="2203704" cy="228600"/>
          </a:xfrm>
          <a:prstGeom prst="rect">
            <a:avLst/>
          </a:prstGeom>
          <a:noFill/>
        </p:spPr>
        <p:txBody>
          <a:bodyPr wrap="none" lIns="109728" tIns="109728" rIns="109728" bIns="109728" anchor="ctr">
            <a:spAutoFit/>
          </a:bodyPr>
          <a:lstStyle/>
          <a:p>
            <a:pPr algn="l">
              <a:defRPr sz="900" b="0">
                <a:solidFill>
                  <a:srgbClr val="5B6973"/>
                </a:solidFill>
                <a:latin typeface="Aptos"/>
              </a:defRPr>
            </a:pPr>
            <a:r>
              <a:t>log1p-hours</a:t>
            </a:r>
          </a:p>
        </p:txBody>
      </p:sp>
      <p:sp>
        <p:nvSpPr>
          <p:cNvPr id="13" name="Rounded Rectangle 12"/>
          <p:cNvSpPr/>
          <p:nvPr/>
        </p:nvSpPr>
        <p:spPr>
          <a:xfrm>
            <a:off x="5806440" y="1325880"/>
            <a:ext cx="2423160" cy="1234440"/>
          </a:xfrm>
          <a:prstGeom prst="roundRect">
            <a:avLst/>
          </a:prstGeom>
          <a:solidFill>
            <a:srgbClr val="EFF6F7"/>
          </a:solidFill>
          <a:ln>
            <a:solidFill>
              <a:srgbClr val="D7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16168" y="1435607"/>
            <a:ext cx="2203704" cy="256032"/>
          </a:xfrm>
          <a:prstGeom prst="rect">
            <a:avLst/>
          </a:prstGeom>
          <a:noFill/>
        </p:spPr>
        <p:txBody>
          <a:bodyPr wrap="none" lIns="109728" tIns="109728" rIns="109728" bIns="109728" anchor="ctr">
            <a:spAutoFit/>
          </a:bodyPr>
          <a:lstStyle/>
          <a:p>
            <a:pPr algn="l">
              <a:defRPr sz="1000" b="1">
                <a:solidFill>
                  <a:srgbClr val="5B6973"/>
                </a:solidFill>
                <a:latin typeface="Aptos"/>
              </a:defRPr>
            </a:pPr>
            <a:r>
              <a:t>PREDICTIVE R²</a:t>
            </a:r>
          </a:p>
        </p:txBody>
      </p:sp>
      <p:sp>
        <p:nvSpPr>
          <p:cNvPr id="15" name="TextBox 14"/>
          <p:cNvSpPr txBox="1"/>
          <p:nvPr/>
        </p:nvSpPr>
        <p:spPr>
          <a:xfrm>
            <a:off x="5916168" y="1709928"/>
            <a:ext cx="2203704" cy="438912"/>
          </a:xfrm>
          <a:prstGeom prst="rect">
            <a:avLst/>
          </a:prstGeom>
          <a:noFill/>
        </p:spPr>
        <p:txBody>
          <a:bodyPr wrap="none" lIns="109728" tIns="109728" rIns="109728" bIns="109728" anchor="ctr">
            <a:spAutoFit/>
          </a:bodyPr>
          <a:lstStyle/>
          <a:p>
            <a:pPr algn="l">
              <a:defRPr sz="2400" b="1">
                <a:solidFill>
                  <a:srgbClr val="193144"/>
                </a:solidFill>
                <a:latin typeface="Aptos"/>
              </a:defRPr>
            </a:pPr>
            <a:r>
              <a:t>0.6582</a:t>
            </a:r>
          </a:p>
        </p:txBody>
      </p:sp>
      <p:sp>
        <p:nvSpPr>
          <p:cNvPr id="16" name="TextBox 15"/>
          <p:cNvSpPr txBox="1"/>
          <p:nvPr/>
        </p:nvSpPr>
        <p:spPr>
          <a:xfrm>
            <a:off x="5916168" y="2203704"/>
            <a:ext cx="2203704" cy="228600"/>
          </a:xfrm>
          <a:prstGeom prst="rect">
            <a:avLst/>
          </a:prstGeom>
          <a:noFill/>
        </p:spPr>
        <p:txBody>
          <a:bodyPr wrap="none" lIns="109728" tIns="109728" rIns="109728" bIns="109728" anchor="ctr">
            <a:spAutoFit/>
          </a:bodyPr>
          <a:lstStyle/>
          <a:p>
            <a:pPr algn="l">
              <a:defRPr sz="900" b="0">
                <a:solidFill>
                  <a:srgbClr val="5B6973"/>
                </a:solidFill>
                <a:latin typeface="Aptos"/>
              </a:defRPr>
            </a:pPr>
            <a:r>
              <a:t>validation</a:t>
            </a:r>
          </a:p>
        </p:txBody>
      </p:sp>
      <p:sp>
        <p:nvSpPr>
          <p:cNvPr id="17" name="Rounded Rectangle 16"/>
          <p:cNvSpPr/>
          <p:nvPr/>
        </p:nvSpPr>
        <p:spPr>
          <a:xfrm>
            <a:off x="8412480" y="1325880"/>
            <a:ext cx="2423160" cy="1234440"/>
          </a:xfrm>
          <a:prstGeom prst="roundRect">
            <a:avLst/>
          </a:prstGeom>
          <a:solidFill>
            <a:srgbClr val="EFF6F7"/>
          </a:solidFill>
          <a:ln>
            <a:solidFill>
              <a:srgbClr val="D7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22207" y="1435607"/>
            <a:ext cx="2203704" cy="256032"/>
          </a:xfrm>
          <a:prstGeom prst="rect">
            <a:avLst/>
          </a:prstGeom>
          <a:noFill/>
        </p:spPr>
        <p:txBody>
          <a:bodyPr wrap="none" lIns="109728" tIns="109728" rIns="109728" bIns="109728" anchor="ctr">
            <a:spAutoFit/>
          </a:bodyPr>
          <a:lstStyle/>
          <a:p>
            <a:pPr algn="l">
              <a:defRPr sz="1000" b="1">
                <a:solidFill>
                  <a:srgbClr val="5B6973"/>
                </a:solidFill>
                <a:latin typeface="Aptos"/>
              </a:defRPr>
            </a:pPr>
            <a:r>
              <a:t>TRAIN RMSE</a:t>
            </a:r>
          </a:p>
        </p:txBody>
      </p:sp>
      <p:sp>
        <p:nvSpPr>
          <p:cNvPr id="19" name="TextBox 18"/>
          <p:cNvSpPr txBox="1"/>
          <p:nvPr/>
        </p:nvSpPr>
        <p:spPr>
          <a:xfrm>
            <a:off x="8522207" y="1709928"/>
            <a:ext cx="2203704" cy="438912"/>
          </a:xfrm>
          <a:prstGeom prst="rect">
            <a:avLst/>
          </a:prstGeom>
          <a:noFill/>
        </p:spPr>
        <p:txBody>
          <a:bodyPr wrap="none" lIns="109728" tIns="109728" rIns="109728" bIns="109728" anchor="ctr">
            <a:spAutoFit/>
          </a:bodyPr>
          <a:lstStyle/>
          <a:p>
            <a:pPr algn="l">
              <a:defRPr sz="2400" b="1">
                <a:solidFill>
                  <a:srgbClr val="193144"/>
                </a:solidFill>
                <a:latin typeface="Aptos"/>
              </a:defRPr>
            </a:pPr>
            <a:r>
              <a:t>1.2938</a:t>
            </a:r>
          </a:p>
        </p:txBody>
      </p:sp>
      <p:sp>
        <p:nvSpPr>
          <p:cNvPr id="20" name="TextBox 19"/>
          <p:cNvSpPr txBox="1"/>
          <p:nvPr/>
        </p:nvSpPr>
        <p:spPr>
          <a:xfrm>
            <a:off x="8522207" y="2203704"/>
            <a:ext cx="2203704" cy="228600"/>
          </a:xfrm>
          <a:prstGeom prst="rect">
            <a:avLst/>
          </a:prstGeom>
          <a:noFill/>
        </p:spPr>
        <p:txBody>
          <a:bodyPr wrap="none" lIns="109728" tIns="109728" rIns="109728" bIns="109728" anchor="ctr">
            <a:spAutoFit/>
          </a:bodyPr>
          <a:lstStyle/>
          <a:p>
            <a:pPr algn="l">
              <a:defRPr sz="900" b="0">
                <a:solidFill>
                  <a:srgbClr val="5B6973"/>
                </a:solidFill>
                <a:latin typeface="Aptos"/>
              </a:defRPr>
            </a:pPr>
            <a:r>
              <a:t>small train–valid gap</a:t>
            </a:r>
          </a:p>
        </p:txBody>
      </p:sp>
      <p:graphicFrame>
        <p:nvGraphicFramePr>
          <p:cNvPr id="21" name="Chart 20"/>
          <p:cNvGraphicFramePr>
            <a:graphicFrameLocks noGrp="1"/>
          </p:cNvGraphicFramePr>
          <p:nvPr/>
        </p:nvGraphicFramePr>
        <p:xfrm>
          <a:off x="777240" y="3154680"/>
          <a:ext cx="5166360" cy="2148840"/>
        </p:xfrm>
        <a:graphic>
          <a:graphicData uri="http://schemas.openxmlformats.org/drawingml/2006/chart">
            <c:chart xmlns:c="http://schemas.openxmlformats.org/drawingml/2006/chart" xmlns:r="http://schemas.openxmlformats.org/officeDocument/2006/relationships" r:id="rId2"/>
          </a:graphicData>
        </a:graphic>
      </p:graphicFrame>
      <p:sp>
        <p:nvSpPr>
          <p:cNvPr id="22" name="TextBox 21"/>
          <p:cNvSpPr txBox="1"/>
          <p:nvPr/>
        </p:nvSpPr>
        <p:spPr>
          <a:xfrm>
            <a:off x="868680" y="5349240"/>
            <a:ext cx="4937760" cy="320040"/>
          </a:xfrm>
          <a:prstGeom prst="rect">
            <a:avLst/>
          </a:prstGeom>
          <a:noFill/>
        </p:spPr>
        <p:txBody>
          <a:bodyPr wrap="none" lIns="109728" tIns="109728" rIns="109728" bIns="109728" anchor="ctr">
            <a:spAutoFit/>
          </a:bodyPr>
          <a:lstStyle/>
          <a:p>
            <a:pPr algn="l">
              <a:defRPr sz="1100" b="0">
                <a:solidFill>
                  <a:srgbClr val="5B6973"/>
                </a:solidFill>
                <a:latin typeface="Aptos"/>
              </a:defRPr>
            </a:pPr>
            <a:r>
              <a:t>Hour-scale RMSE</a:t>
            </a:r>
          </a:p>
        </p:txBody>
      </p:sp>
      <p:sp>
        <p:nvSpPr>
          <p:cNvPr id="23" name="Rounded Rectangle 22"/>
          <p:cNvSpPr/>
          <p:nvPr/>
        </p:nvSpPr>
        <p:spPr>
          <a:xfrm>
            <a:off x="6355080" y="3246120"/>
            <a:ext cx="4663440" cy="1417320"/>
          </a:xfrm>
          <a:prstGeom prst="roundRect">
            <a:avLst/>
          </a:prstGeom>
          <a:solidFill>
            <a:srgbClr val="EFF6F7"/>
          </a:solidFill>
          <a:ln>
            <a:solidFill>
              <a:srgbClr val="EFF6F7"/>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l">
              <a:defRPr sz="1500" b="0">
                <a:solidFill>
                  <a:srgbClr val="202D37"/>
                </a:solidFill>
                <a:latin typeface="Aptos"/>
              </a:defRPr>
            </a:pPr>
            <a:r>
              <a:t>The converted model has worse hour-scale RMSE than the training-mean baseline (1,373.18 vs. 970.97 hours). Large long-duration cases dominate squared error.</a:t>
            </a:r>
          </a:p>
        </p:txBody>
      </p:sp>
      <p:sp>
        <p:nvSpPr>
          <p:cNvPr id="24" name="Rounded Rectangle 23"/>
          <p:cNvSpPr/>
          <p:nvPr/>
        </p:nvSpPr>
        <p:spPr>
          <a:xfrm>
            <a:off x="6355080" y="4892040"/>
            <a:ext cx="4663440" cy="777240"/>
          </a:xfrm>
          <a:prstGeom prst="roundRect">
            <a:avLst/>
          </a:prstGeom>
          <a:solidFill>
            <a:srgbClr val="F7F9FA"/>
          </a:solidFill>
          <a:ln>
            <a:solidFill>
              <a:srgbClr val="F7F9F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l">
              <a:defRPr sz="1400" b="1">
                <a:solidFill>
                  <a:srgbClr val="193144"/>
                </a:solidFill>
                <a:latin typeface="Aptos"/>
              </a:defRPr>
            </a:pPr>
            <a:r>
              <a:rPr dirty="0"/>
              <a:t>Business meaning: useful for broad relative planning, but not reliable for individual completion-time promises.</a:t>
            </a:r>
          </a:p>
        </p:txBody>
      </p:sp>
      <p:sp>
        <p:nvSpPr>
          <p:cNvPr id="25" name="TextBox 24"/>
          <p:cNvSpPr txBox="1"/>
          <p:nvPr/>
        </p:nvSpPr>
        <p:spPr>
          <a:xfrm>
            <a:off x="10744200" y="6473952"/>
            <a:ext cx="914400" cy="182880"/>
          </a:xfrm>
          <a:prstGeom prst="rect">
            <a:avLst/>
          </a:prstGeom>
          <a:noFill/>
        </p:spPr>
        <p:txBody>
          <a:bodyPr wrap="none">
            <a:spAutoFit/>
          </a:bodyPr>
          <a:lstStyle/>
          <a:p>
            <a:pPr algn="r">
              <a:defRPr sz="900">
                <a:solidFill>
                  <a:srgbClr val="5B6973"/>
                </a:solidFill>
              </a:defRPr>
            </a:pPr>
            <a: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C8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1064240" cy="502920"/>
          </a:xfrm>
          <a:prstGeom prst="rect">
            <a:avLst/>
          </a:prstGeom>
          <a:noFill/>
        </p:spPr>
        <p:txBody>
          <a:bodyPr wrap="none">
            <a:spAutoFit/>
          </a:bodyPr>
          <a:lstStyle/>
          <a:p>
            <a:pPr>
              <a:defRPr sz="2500" b="1">
                <a:solidFill>
                  <a:srgbClr val="193144"/>
                </a:solidFill>
                <a:latin typeface="Aptos Display"/>
              </a:defRPr>
            </a:pPr>
            <a:r>
              <a:t>8. Logistic regression results</a:t>
            </a:r>
          </a:p>
        </p:txBody>
      </p:sp>
      <p:sp>
        <p:nvSpPr>
          <p:cNvPr id="4" name="TextBox 3"/>
          <p:cNvSpPr txBox="1"/>
          <p:nvPr/>
        </p:nvSpPr>
        <p:spPr>
          <a:xfrm>
            <a:off x="530352" y="768096"/>
            <a:ext cx="10972800" cy="320040"/>
          </a:xfrm>
          <a:prstGeom prst="rect">
            <a:avLst/>
          </a:prstGeom>
          <a:noFill/>
        </p:spPr>
        <p:txBody>
          <a:bodyPr wrap="none">
            <a:spAutoFit/>
          </a:bodyPr>
          <a:lstStyle/>
          <a:p>
            <a:pPr>
              <a:defRPr sz="1050">
                <a:solidFill>
                  <a:srgbClr val="5B6973"/>
                </a:solidFill>
                <a:latin typeface="Aptos"/>
              </a:defRPr>
            </a:pPr>
            <a:r>
              <a:t>At the 0.25 cutoff, the classifier creates many alerts while missing about half of slow requests</a:t>
            </a:r>
          </a:p>
        </p:txBody>
      </p:sp>
      <p:graphicFrame>
        <p:nvGraphicFramePr>
          <p:cNvPr id="5" name="Chart 4"/>
          <p:cNvGraphicFramePr>
            <a:graphicFrameLocks noGrp="1"/>
          </p:cNvGraphicFramePr>
          <p:nvPr/>
        </p:nvGraphicFramePr>
        <p:xfrm>
          <a:off x="594360" y="1325880"/>
          <a:ext cx="5486400" cy="320040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731520" y="4617720"/>
            <a:ext cx="5120640" cy="320040"/>
          </a:xfrm>
          <a:prstGeom prst="rect">
            <a:avLst/>
          </a:prstGeom>
          <a:noFill/>
        </p:spPr>
        <p:txBody>
          <a:bodyPr wrap="none" lIns="109728" tIns="109728" rIns="109728" bIns="109728" anchor="ctr">
            <a:spAutoFit/>
          </a:bodyPr>
          <a:lstStyle/>
          <a:p>
            <a:pPr algn="l">
              <a:defRPr sz="1100" b="0">
                <a:solidFill>
                  <a:srgbClr val="5B6973"/>
                </a:solidFill>
                <a:latin typeface="Aptos"/>
              </a:defRPr>
            </a:pPr>
            <a:r>
              <a:t>Percent of validation requests</a:t>
            </a:r>
          </a:p>
        </p:txBody>
      </p:sp>
      <p:sp>
        <p:nvSpPr>
          <p:cNvPr id="7" name="Rounded Rectangle 6"/>
          <p:cNvSpPr/>
          <p:nvPr/>
        </p:nvSpPr>
        <p:spPr>
          <a:xfrm>
            <a:off x="6446520" y="1371600"/>
            <a:ext cx="2103120" cy="1234440"/>
          </a:xfrm>
          <a:prstGeom prst="roundRect">
            <a:avLst/>
          </a:prstGeom>
          <a:solidFill>
            <a:srgbClr val="EFF6F7"/>
          </a:solidFill>
          <a:ln>
            <a:solidFill>
              <a:srgbClr val="D7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56248" y="1481328"/>
            <a:ext cx="1883663" cy="256032"/>
          </a:xfrm>
          <a:prstGeom prst="rect">
            <a:avLst/>
          </a:prstGeom>
          <a:noFill/>
        </p:spPr>
        <p:txBody>
          <a:bodyPr wrap="none" lIns="109728" tIns="109728" rIns="109728" bIns="109728" anchor="ctr">
            <a:spAutoFit/>
          </a:bodyPr>
          <a:lstStyle/>
          <a:p>
            <a:pPr algn="l">
              <a:defRPr sz="1000" b="1">
                <a:solidFill>
                  <a:srgbClr val="5B6973"/>
                </a:solidFill>
                <a:latin typeface="Aptos"/>
              </a:defRPr>
            </a:pPr>
            <a:r>
              <a:t>AUC</a:t>
            </a:r>
          </a:p>
        </p:txBody>
      </p:sp>
      <p:sp>
        <p:nvSpPr>
          <p:cNvPr id="9" name="TextBox 8"/>
          <p:cNvSpPr txBox="1"/>
          <p:nvPr/>
        </p:nvSpPr>
        <p:spPr>
          <a:xfrm>
            <a:off x="6556248" y="1755648"/>
            <a:ext cx="1883663" cy="438912"/>
          </a:xfrm>
          <a:prstGeom prst="rect">
            <a:avLst/>
          </a:prstGeom>
          <a:noFill/>
        </p:spPr>
        <p:txBody>
          <a:bodyPr wrap="none" lIns="109728" tIns="109728" rIns="109728" bIns="109728" anchor="ctr">
            <a:spAutoFit/>
          </a:bodyPr>
          <a:lstStyle/>
          <a:p>
            <a:pPr algn="l">
              <a:defRPr sz="2400" b="1">
                <a:solidFill>
                  <a:srgbClr val="193144"/>
                </a:solidFill>
                <a:latin typeface="Aptos"/>
              </a:defRPr>
            </a:pPr>
            <a:r>
              <a:t>0.5542</a:t>
            </a:r>
          </a:p>
        </p:txBody>
      </p:sp>
      <p:sp>
        <p:nvSpPr>
          <p:cNvPr id="10" name="TextBox 9"/>
          <p:cNvSpPr txBox="1"/>
          <p:nvPr/>
        </p:nvSpPr>
        <p:spPr>
          <a:xfrm>
            <a:off x="6556248" y="2249424"/>
            <a:ext cx="1883663" cy="228600"/>
          </a:xfrm>
          <a:prstGeom prst="rect">
            <a:avLst/>
          </a:prstGeom>
          <a:noFill/>
        </p:spPr>
        <p:txBody>
          <a:bodyPr wrap="none" lIns="109728" tIns="109728" rIns="109728" bIns="109728" anchor="ctr">
            <a:spAutoFit/>
          </a:bodyPr>
          <a:lstStyle/>
          <a:p>
            <a:pPr algn="l">
              <a:defRPr sz="900" b="0">
                <a:solidFill>
                  <a:srgbClr val="5B6973"/>
                </a:solidFill>
                <a:latin typeface="Aptos"/>
              </a:defRPr>
            </a:pPr>
            <a:r>
              <a:t>weak ranking</a:t>
            </a:r>
          </a:p>
        </p:txBody>
      </p:sp>
      <p:sp>
        <p:nvSpPr>
          <p:cNvPr id="11" name="Rounded Rectangle 10"/>
          <p:cNvSpPr/>
          <p:nvPr/>
        </p:nvSpPr>
        <p:spPr>
          <a:xfrm>
            <a:off x="8823960" y="1371600"/>
            <a:ext cx="2103120" cy="1234440"/>
          </a:xfrm>
          <a:prstGeom prst="roundRect">
            <a:avLst/>
          </a:prstGeom>
          <a:solidFill>
            <a:srgbClr val="EFF6F7"/>
          </a:solidFill>
          <a:ln>
            <a:solidFill>
              <a:srgbClr val="D7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33688" y="1481328"/>
            <a:ext cx="1883663" cy="256032"/>
          </a:xfrm>
          <a:prstGeom prst="rect">
            <a:avLst/>
          </a:prstGeom>
          <a:noFill/>
        </p:spPr>
        <p:txBody>
          <a:bodyPr wrap="none" lIns="109728" tIns="109728" rIns="109728" bIns="109728" anchor="ctr">
            <a:spAutoFit/>
          </a:bodyPr>
          <a:lstStyle/>
          <a:p>
            <a:pPr algn="l">
              <a:defRPr sz="1000" b="1">
                <a:solidFill>
                  <a:srgbClr val="5B6973"/>
                </a:solidFill>
                <a:latin typeface="Aptos"/>
              </a:defRPr>
            </a:pPr>
            <a:r>
              <a:t>ACCURACY</a:t>
            </a:r>
          </a:p>
        </p:txBody>
      </p:sp>
      <p:sp>
        <p:nvSpPr>
          <p:cNvPr id="13" name="TextBox 12"/>
          <p:cNvSpPr txBox="1"/>
          <p:nvPr/>
        </p:nvSpPr>
        <p:spPr>
          <a:xfrm>
            <a:off x="8933688" y="1755648"/>
            <a:ext cx="1883663" cy="438912"/>
          </a:xfrm>
          <a:prstGeom prst="rect">
            <a:avLst/>
          </a:prstGeom>
          <a:noFill/>
        </p:spPr>
        <p:txBody>
          <a:bodyPr wrap="none" lIns="109728" tIns="109728" rIns="109728" bIns="109728" anchor="ctr">
            <a:spAutoFit/>
          </a:bodyPr>
          <a:lstStyle/>
          <a:p>
            <a:pPr algn="l">
              <a:defRPr sz="2400" b="1">
                <a:solidFill>
                  <a:srgbClr val="193144"/>
                </a:solidFill>
                <a:latin typeface="Aptos"/>
              </a:defRPr>
            </a:pPr>
            <a:r>
              <a:t>55.14%</a:t>
            </a:r>
          </a:p>
        </p:txBody>
      </p:sp>
      <p:sp>
        <p:nvSpPr>
          <p:cNvPr id="14" name="TextBox 13"/>
          <p:cNvSpPr txBox="1"/>
          <p:nvPr/>
        </p:nvSpPr>
        <p:spPr>
          <a:xfrm>
            <a:off x="8933688" y="2249424"/>
            <a:ext cx="1883663" cy="228600"/>
          </a:xfrm>
          <a:prstGeom prst="rect">
            <a:avLst/>
          </a:prstGeom>
          <a:noFill/>
        </p:spPr>
        <p:txBody>
          <a:bodyPr wrap="none" lIns="109728" tIns="109728" rIns="109728" bIns="109728" anchor="ctr">
            <a:spAutoFit/>
          </a:bodyPr>
          <a:lstStyle/>
          <a:p>
            <a:pPr algn="l">
              <a:defRPr sz="900" b="0">
                <a:solidFill>
                  <a:srgbClr val="5B6973"/>
                </a:solidFill>
                <a:latin typeface="Aptos"/>
              </a:defRPr>
            </a:pPr>
            <a:r>
              <a:t>cutoff 0.25</a:t>
            </a:r>
          </a:p>
        </p:txBody>
      </p:sp>
      <p:sp>
        <p:nvSpPr>
          <p:cNvPr id="15" name="Rounded Rectangle 14"/>
          <p:cNvSpPr/>
          <p:nvPr/>
        </p:nvSpPr>
        <p:spPr>
          <a:xfrm>
            <a:off x="6446520" y="2971800"/>
            <a:ext cx="4480560" cy="1280160"/>
          </a:xfrm>
          <a:prstGeom prst="roundRect">
            <a:avLst/>
          </a:prstGeom>
          <a:solidFill>
            <a:srgbClr val="EFF6F7"/>
          </a:solidFill>
          <a:ln>
            <a:solidFill>
              <a:srgbClr val="EFF6F7"/>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l">
              <a:defRPr sz="1400" b="0">
                <a:solidFill>
                  <a:srgbClr val="202D37"/>
                </a:solidFill>
                <a:latin typeface="Aptos"/>
              </a:defRPr>
            </a:pPr>
            <a:r>
              <a:t>Confusion matrix: 1,565 true positives, 1,550 false negatives, 3,789 false positives, and 4,997 true negatives.</a:t>
            </a:r>
          </a:p>
        </p:txBody>
      </p:sp>
      <p:sp>
        <p:nvSpPr>
          <p:cNvPr id="16" name="Rounded Rectangle 15"/>
          <p:cNvSpPr/>
          <p:nvPr/>
        </p:nvSpPr>
        <p:spPr>
          <a:xfrm>
            <a:off x="6446520" y="4572000"/>
            <a:ext cx="4480560" cy="822960"/>
          </a:xfrm>
          <a:prstGeom prst="roundRect">
            <a:avLst/>
          </a:prstGeom>
          <a:solidFill>
            <a:srgbClr val="F7F9FA"/>
          </a:solidFill>
          <a:ln>
            <a:solidFill>
              <a:srgbClr val="F7F9F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l">
              <a:defRPr sz="1300" b="1">
                <a:solidFill>
                  <a:srgbClr val="193144"/>
                </a:solidFill>
                <a:latin typeface="Aptos"/>
              </a:defRPr>
            </a:pPr>
            <a:r>
              <a:t>The 0.50 cutoff flags no requests, showing why accuracy alone is misleading for this screening problem.</a:t>
            </a:r>
          </a:p>
        </p:txBody>
      </p:sp>
      <p:sp>
        <p:nvSpPr>
          <p:cNvPr id="17" name="TextBox 16"/>
          <p:cNvSpPr txBox="1"/>
          <p:nvPr/>
        </p:nvSpPr>
        <p:spPr>
          <a:xfrm>
            <a:off x="10744200" y="6473952"/>
            <a:ext cx="914400" cy="182880"/>
          </a:xfrm>
          <a:prstGeom prst="rect">
            <a:avLst/>
          </a:prstGeom>
          <a:noFill/>
        </p:spPr>
        <p:txBody>
          <a:bodyPr wrap="none">
            <a:spAutoFit/>
          </a:bodyPr>
          <a:lstStyle/>
          <a:p>
            <a:pPr algn="r">
              <a:defRPr sz="900">
                <a:solidFill>
                  <a:srgbClr val="5B6973"/>
                </a:solidFill>
              </a:defRPr>
            </a:pPr>
            <a: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C8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1064240" cy="502920"/>
          </a:xfrm>
          <a:prstGeom prst="rect">
            <a:avLst/>
          </a:prstGeom>
          <a:noFill/>
        </p:spPr>
        <p:txBody>
          <a:bodyPr wrap="none">
            <a:spAutoFit/>
          </a:bodyPr>
          <a:lstStyle/>
          <a:p>
            <a:pPr>
              <a:defRPr sz="2500" b="1">
                <a:solidFill>
                  <a:srgbClr val="193144"/>
                </a:solidFill>
                <a:latin typeface="Aptos Display"/>
              </a:defRPr>
            </a:pPr>
            <a:r>
              <a:t>9. Finding: one cutoff creates very uneven borough workloads</a:t>
            </a:r>
          </a:p>
        </p:txBody>
      </p:sp>
      <p:sp>
        <p:nvSpPr>
          <p:cNvPr id="4" name="TextBox 3"/>
          <p:cNvSpPr txBox="1"/>
          <p:nvPr/>
        </p:nvSpPr>
        <p:spPr>
          <a:xfrm>
            <a:off x="530352" y="768096"/>
            <a:ext cx="10972800" cy="320040"/>
          </a:xfrm>
          <a:prstGeom prst="rect">
            <a:avLst/>
          </a:prstGeom>
          <a:noFill/>
        </p:spPr>
        <p:txBody>
          <a:bodyPr wrap="none">
            <a:spAutoFit/>
          </a:bodyPr>
          <a:lstStyle/>
          <a:p>
            <a:pPr>
              <a:defRPr sz="1050">
                <a:solidFill>
                  <a:srgbClr val="5B6973"/>
                </a:solidFill>
                <a:latin typeface="Aptos"/>
              </a:defRPr>
            </a:pPr>
            <a:r>
              <a:t>Validation flag rates differ dramatically across boroughs</a:t>
            </a:r>
          </a:p>
        </p:txBody>
      </p:sp>
      <p:graphicFrame>
        <p:nvGraphicFramePr>
          <p:cNvPr id="5" name="Chart 4"/>
          <p:cNvGraphicFramePr>
            <a:graphicFrameLocks noGrp="1"/>
          </p:cNvGraphicFramePr>
          <p:nvPr/>
        </p:nvGraphicFramePr>
        <p:xfrm>
          <a:off x="594360" y="1325880"/>
          <a:ext cx="6629400" cy="384048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731520" y="5349240"/>
            <a:ext cx="6309360" cy="320040"/>
          </a:xfrm>
          <a:prstGeom prst="rect">
            <a:avLst/>
          </a:prstGeom>
          <a:noFill/>
        </p:spPr>
        <p:txBody>
          <a:bodyPr wrap="none" lIns="109728" tIns="109728" rIns="109728" bIns="109728" anchor="ctr">
            <a:spAutoFit/>
          </a:bodyPr>
          <a:lstStyle/>
          <a:p>
            <a:pPr algn="l">
              <a:defRPr sz="1100" b="0">
                <a:solidFill>
                  <a:srgbClr val="5B6973"/>
                </a:solidFill>
                <a:latin typeface="Aptos"/>
              </a:defRPr>
            </a:pPr>
            <a:r>
              <a:t>Flag rate at 0.25 cutoff (%)</a:t>
            </a:r>
          </a:p>
        </p:txBody>
      </p:sp>
      <p:sp>
        <p:nvSpPr>
          <p:cNvPr id="7" name="Rounded Rectangle 6"/>
          <p:cNvSpPr/>
          <p:nvPr/>
        </p:nvSpPr>
        <p:spPr>
          <a:xfrm>
            <a:off x="7635240" y="1417320"/>
            <a:ext cx="3749039" cy="1325880"/>
          </a:xfrm>
          <a:prstGeom prst="roundRect">
            <a:avLst/>
          </a:prstGeom>
          <a:solidFill>
            <a:srgbClr val="EFF6F7"/>
          </a:solidFill>
          <a:ln>
            <a:solidFill>
              <a:srgbClr val="EFF6F7"/>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l">
              <a:defRPr sz="2000" b="1">
                <a:solidFill>
                  <a:srgbClr val="193144"/>
                </a:solidFill>
                <a:latin typeface="Aptos"/>
              </a:defRPr>
            </a:pPr>
            <a:r>
              <a:t>Bronx: 99.4% flagged</a:t>
            </a:r>
            <a:br/>
            <a:r>
              <a:t>Staten Island: 1.2% flagged</a:t>
            </a:r>
          </a:p>
        </p:txBody>
      </p:sp>
      <p:sp>
        <p:nvSpPr>
          <p:cNvPr id="8" name="Rounded Rectangle 7"/>
          <p:cNvSpPr/>
          <p:nvPr/>
        </p:nvSpPr>
        <p:spPr>
          <a:xfrm>
            <a:off x="7635240" y="3108960"/>
            <a:ext cx="3749039" cy="1463040"/>
          </a:xfrm>
          <a:prstGeom prst="roundRect">
            <a:avLst/>
          </a:prstGeom>
          <a:solidFill>
            <a:srgbClr val="F7F9FA"/>
          </a:solidFill>
          <a:ln>
            <a:solidFill>
              <a:srgbClr val="F7F9F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l">
              <a:defRPr sz="1400" b="0">
                <a:solidFill>
                  <a:srgbClr val="202D37"/>
                </a:solidFill>
                <a:latin typeface="Aptos"/>
              </a:defRPr>
            </a:pPr>
            <a:r>
              <a:rPr dirty="0"/>
              <a:t>These are model outputs</a:t>
            </a:r>
            <a:r>
              <a:rPr lang="en-US" dirty="0"/>
              <a:t> </a:t>
            </a:r>
            <a:r>
              <a:rPr dirty="0"/>
              <a:t>not evidence that borough causes delay or that one borough deserves more or less service.</a:t>
            </a:r>
          </a:p>
        </p:txBody>
      </p:sp>
      <p:sp>
        <p:nvSpPr>
          <p:cNvPr id="10" name="TextBox 9"/>
          <p:cNvSpPr txBox="1"/>
          <p:nvPr/>
        </p:nvSpPr>
        <p:spPr>
          <a:xfrm>
            <a:off x="10744200" y="6473952"/>
            <a:ext cx="914400" cy="182880"/>
          </a:xfrm>
          <a:prstGeom prst="rect">
            <a:avLst/>
          </a:prstGeom>
          <a:noFill/>
        </p:spPr>
        <p:txBody>
          <a:bodyPr wrap="none">
            <a:spAutoFit/>
          </a:bodyPr>
          <a:lstStyle/>
          <a:p>
            <a:pPr algn="r">
              <a:defRPr sz="900">
                <a:solidFill>
                  <a:srgbClr val="5B6973"/>
                </a:solidFill>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C8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1064240" cy="502920"/>
          </a:xfrm>
          <a:prstGeom prst="rect">
            <a:avLst/>
          </a:prstGeom>
          <a:noFill/>
        </p:spPr>
        <p:txBody>
          <a:bodyPr wrap="none">
            <a:spAutoFit/>
          </a:bodyPr>
          <a:lstStyle/>
          <a:p>
            <a:pPr>
              <a:defRPr sz="2500" b="1">
                <a:solidFill>
                  <a:srgbClr val="193144"/>
                </a:solidFill>
                <a:latin typeface="Aptos Display"/>
              </a:defRPr>
            </a:pPr>
            <a:r>
              <a:t>10. Recommendation for city operations</a:t>
            </a:r>
          </a:p>
        </p:txBody>
      </p:sp>
      <p:sp>
        <p:nvSpPr>
          <p:cNvPr id="5" name="Rounded Rectangle 4"/>
          <p:cNvSpPr/>
          <p:nvPr/>
        </p:nvSpPr>
        <p:spPr>
          <a:xfrm>
            <a:off x="640080" y="1325880"/>
            <a:ext cx="10972800" cy="640080"/>
          </a:xfrm>
          <a:prstGeom prst="roundRect">
            <a:avLst/>
          </a:prstGeom>
          <a:solidFill>
            <a:srgbClr val="EFF6F7"/>
          </a:solidFill>
          <a:ln>
            <a:solidFill>
              <a:srgbClr val="EFF6F7"/>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l">
              <a:defRPr sz="2000" b="1">
                <a:solidFill>
                  <a:srgbClr val="193144"/>
                </a:solidFill>
                <a:latin typeface="Aptos"/>
              </a:defRPr>
            </a:pPr>
            <a:r>
              <a:t>Current recommendation: keep humans in the loop and treat model scores as experimental decision support.</a:t>
            </a:r>
          </a:p>
        </p:txBody>
      </p:sp>
      <p:sp>
        <p:nvSpPr>
          <p:cNvPr id="6" name="TextBox 5"/>
          <p:cNvSpPr txBox="1"/>
          <p:nvPr/>
        </p:nvSpPr>
        <p:spPr>
          <a:xfrm>
            <a:off x="685800" y="2423160"/>
            <a:ext cx="2514600" cy="411480"/>
          </a:xfrm>
          <a:prstGeom prst="rect">
            <a:avLst/>
          </a:prstGeom>
          <a:noFill/>
        </p:spPr>
        <p:txBody>
          <a:bodyPr wrap="none" lIns="109728" tIns="109728" rIns="109728" bIns="109728" anchor="ctr">
            <a:spAutoFit/>
          </a:bodyPr>
          <a:lstStyle/>
          <a:p>
            <a:pPr algn="l">
              <a:defRPr sz="1500" b="1">
                <a:solidFill>
                  <a:srgbClr val="2C8494"/>
                </a:solidFill>
                <a:latin typeface="Aptos"/>
              </a:defRPr>
            </a:pPr>
            <a:r>
              <a:t>1  Investigate</a:t>
            </a:r>
          </a:p>
        </p:txBody>
      </p:sp>
      <p:sp>
        <p:nvSpPr>
          <p:cNvPr id="7" name="Rounded Rectangle 6"/>
          <p:cNvSpPr/>
          <p:nvPr/>
        </p:nvSpPr>
        <p:spPr>
          <a:xfrm>
            <a:off x="685800" y="2926080"/>
            <a:ext cx="2514600" cy="1554480"/>
          </a:xfrm>
          <a:prstGeom prst="roundRect">
            <a:avLst/>
          </a:prstGeom>
          <a:solidFill>
            <a:srgbClr val="F7F9FA"/>
          </a:solidFill>
          <a:ln>
            <a:solidFill>
              <a:srgbClr val="F7F9F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l">
              <a:defRPr sz="1300" b="0">
                <a:solidFill>
                  <a:srgbClr val="202D37"/>
                </a:solidFill>
                <a:latin typeface="Aptos"/>
              </a:defRPr>
            </a:pPr>
            <a:r>
              <a:t>Review long recorded-closure workflows and missing timestamps.</a:t>
            </a:r>
          </a:p>
        </p:txBody>
      </p:sp>
      <p:sp>
        <p:nvSpPr>
          <p:cNvPr id="8" name="TextBox 7"/>
          <p:cNvSpPr txBox="1"/>
          <p:nvPr/>
        </p:nvSpPr>
        <p:spPr>
          <a:xfrm>
            <a:off x="3474720" y="2423160"/>
            <a:ext cx="2514600" cy="411480"/>
          </a:xfrm>
          <a:prstGeom prst="rect">
            <a:avLst/>
          </a:prstGeom>
          <a:noFill/>
        </p:spPr>
        <p:txBody>
          <a:bodyPr wrap="none" lIns="109728" tIns="109728" rIns="109728" bIns="109728" anchor="ctr">
            <a:spAutoFit/>
          </a:bodyPr>
          <a:lstStyle/>
          <a:p>
            <a:pPr algn="l">
              <a:defRPr sz="1500" b="1">
                <a:solidFill>
                  <a:srgbClr val="2C8494"/>
                </a:solidFill>
                <a:latin typeface="Aptos"/>
              </a:defRPr>
            </a:pPr>
            <a:r>
              <a:t>2  Test</a:t>
            </a:r>
          </a:p>
        </p:txBody>
      </p:sp>
      <p:sp>
        <p:nvSpPr>
          <p:cNvPr id="9" name="Rounded Rectangle 8"/>
          <p:cNvSpPr/>
          <p:nvPr/>
        </p:nvSpPr>
        <p:spPr>
          <a:xfrm>
            <a:off x="3474720" y="2926080"/>
            <a:ext cx="2514600" cy="1554480"/>
          </a:xfrm>
          <a:prstGeom prst="roundRect">
            <a:avLst/>
          </a:prstGeom>
          <a:solidFill>
            <a:srgbClr val="F7F9FA"/>
          </a:solidFill>
          <a:ln>
            <a:solidFill>
              <a:srgbClr val="F7F9F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l">
              <a:defRPr sz="1300" b="0">
                <a:solidFill>
                  <a:srgbClr val="202D37"/>
                </a:solidFill>
                <a:latin typeface="Aptos"/>
              </a:defRPr>
            </a:pPr>
            <a:r>
              <a:t>Evaluate a later-month sample that includes requests still open.</a:t>
            </a:r>
          </a:p>
        </p:txBody>
      </p:sp>
      <p:sp>
        <p:nvSpPr>
          <p:cNvPr id="10" name="TextBox 9"/>
          <p:cNvSpPr txBox="1"/>
          <p:nvPr/>
        </p:nvSpPr>
        <p:spPr>
          <a:xfrm>
            <a:off x="6263640" y="2423160"/>
            <a:ext cx="2514600" cy="411480"/>
          </a:xfrm>
          <a:prstGeom prst="rect">
            <a:avLst/>
          </a:prstGeom>
          <a:noFill/>
        </p:spPr>
        <p:txBody>
          <a:bodyPr wrap="none" lIns="109728" tIns="109728" rIns="109728" bIns="109728" anchor="ctr">
            <a:spAutoFit/>
          </a:bodyPr>
          <a:lstStyle/>
          <a:p>
            <a:pPr algn="l">
              <a:defRPr sz="1500" b="1">
                <a:solidFill>
                  <a:srgbClr val="2C8494"/>
                </a:solidFill>
                <a:latin typeface="Aptos"/>
              </a:defRPr>
            </a:pPr>
            <a:r>
              <a:t>3  Benchmark</a:t>
            </a:r>
          </a:p>
        </p:txBody>
      </p:sp>
      <p:sp>
        <p:nvSpPr>
          <p:cNvPr id="11" name="Rounded Rectangle 10"/>
          <p:cNvSpPr/>
          <p:nvPr/>
        </p:nvSpPr>
        <p:spPr>
          <a:xfrm>
            <a:off x="6263640" y="2926080"/>
            <a:ext cx="2514600" cy="1554480"/>
          </a:xfrm>
          <a:prstGeom prst="roundRect">
            <a:avLst/>
          </a:prstGeom>
          <a:solidFill>
            <a:srgbClr val="F7F9FA"/>
          </a:solidFill>
          <a:ln>
            <a:solidFill>
              <a:srgbClr val="F7F9F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l">
              <a:defRPr sz="1300" b="0">
                <a:solidFill>
                  <a:srgbClr val="202D37"/>
                </a:solidFill>
                <a:latin typeface="Aptos"/>
              </a:defRPr>
            </a:pPr>
            <a:r>
              <a:t>Compare the model with simple operational rules and explicit workload limits.</a:t>
            </a:r>
          </a:p>
        </p:txBody>
      </p:sp>
      <p:sp>
        <p:nvSpPr>
          <p:cNvPr id="12" name="TextBox 11"/>
          <p:cNvSpPr txBox="1"/>
          <p:nvPr/>
        </p:nvSpPr>
        <p:spPr>
          <a:xfrm>
            <a:off x="9052559" y="2423160"/>
            <a:ext cx="2514600" cy="411480"/>
          </a:xfrm>
          <a:prstGeom prst="rect">
            <a:avLst/>
          </a:prstGeom>
          <a:noFill/>
        </p:spPr>
        <p:txBody>
          <a:bodyPr wrap="none" lIns="109728" tIns="109728" rIns="109728" bIns="109728" anchor="ctr">
            <a:spAutoFit/>
          </a:bodyPr>
          <a:lstStyle/>
          <a:p>
            <a:pPr algn="l">
              <a:defRPr sz="1500" b="1">
                <a:solidFill>
                  <a:srgbClr val="2C8494"/>
                </a:solidFill>
                <a:latin typeface="Aptos"/>
              </a:defRPr>
            </a:pPr>
            <a:r>
              <a:t>4  Pilot carefully</a:t>
            </a:r>
          </a:p>
        </p:txBody>
      </p:sp>
      <p:sp>
        <p:nvSpPr>
          <p:cNvPr id="13" name="Rounded Rectangle 12"/>
          <p:cNvSpPr/>
          <p:nvPr/>
        </p:nvSpPr>
        <p:spPr>
          <a:xfrm>
            <a:off x="9052559" y="2926080"/>
            <a:ext cx="2514600" cy="1554480"/>
          </a:xfrm>
          <a:prstGeom prst="roundRect">
            <a:avLst/>
          </a:prstGeom>
          <a:solidFill>
            <a:srgbClr val="F7F9FA"/>
          </a:solidFill>
          <a:ln>
            <a:solidFill>
              <a:srgbClr val="F7F9F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l">
              <a:defRPr sz="1300" b="0">
                <a:solidFill>
                  <a:srgbClr val="202D37"/>
                </a:solidFill>
                <a:latin typeface="Aptos"/>
              </a:defRPr>
            </a:pPr>
            <a:r>
              <a:t>If piloted, use shadow mode and staff review before any operational action.</a:t>
            </a:r>
          </a:p>
        </p:txBody>
      </p:sp>
      <p:sp>
        <p:nvSpPr>
          <p:cNvPr id="14" name="TextBox 13"/>
          <p:cNvSpPr txBox="1"/>
          <p:nvPr/>
        </p:nvSpPr>
        <p:spPr>
          <a:xfrm>
            <a:off x="685800" y="5074920"/>
            <a:ext cx="10789920" cy="685800"/>
          </a:xfrm>
          <a:prstGeom prst="rect">
            <a:avLst/>
          </a:prstGeom>
          <a:noFill/>
        </p:spPr>
        <p:txBody>
          <a:bodyPr wrap="none" lIns="109728" tIns="109728" rIns="109728" bIns="109728" anchor="ctr">
            <a:spAutoFit/>
          </a:bodyPr>
          <a:lstStyle/>
          <a:p>
            <a:pPr algn="l">
              <a:defRPr sz="1400" b="1">
                <a:solidFill>
                  <a:srgbClr val="202D37"/>
                </a:solidFill>
                <a:latin typeface="Aptos"/>
              </a:defRPr>
            </a:pPr>
            <a:r>
              <a:t>At the current cutoff, about 450 of every 1,000 validation requests are flagged, but only about 132 of every 1,000 are correct slow flags.</a:t>
            </a:r>
          </a:p>
        </p:txBody>
      </p:sp>
      <p:sp>
        <p:nvSpPr>
          <p:cNvPr id="15" name="TextBox 14"/>
          <p:cNvSpPr txBox="1"/>
          <p:nvPr/>
        </p:nvSpPr>
        <p:spPr>
          <a:xfrm>
            <a:off x="10744200" y="6473952"/>
            <a:ext cx="914400" cy="182880"/>
          </a:xfrm>
          <a:prstGeom prst="rect">
            <a:avLst/>
          </a:prstGeom>
          <a:noFill/>
        </p:spPr>
        <p:txBody>
          <a:bodyPr wrap="none">
            <a:spAutoFit/>
          </a:bodyPr>
          <a:lstStyle/>
          <a:p>
            <a:pPr algn="r">
              <a:defRPr sz="900">
                <a:solidFill>
                  <a:srgbClr val="5B6973"/>
                </a:solidFill>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C8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1064240" cy="502920"/>
          </a:xfrm>
          <a:prstGeom prst="rect">
            <a:avLst/>
          </a:prstGeom>
          <a:noFill/>
        </p:spPr>
        <p:txBody>
          <a:bodyPr wrap="none">
            <a:spAutoFit/>
          </a:bodyPr>
          <a:lstStyle/>
          <a:p>
            <a:pPr>
              <a:defRPr sz="2500" b="1">
                <a:solidFill>
                  <a:srgbClr val="193144"/>
                </a:solidFill>
                <a:latin typeface="Aptos Display"/>
              </a:defRPr>
            </a:pPr>
            <a:r>
              <a:t>11. Limitations and responsible use</a:t>
            </a:r>
          </a:p>
        </p:txBody>
      </p:sp>
      <p:sp>
        <p:nvSpPr>
          <p:cNvPr id="4" name="TextBox 3"/>
          <p:cNvSpPr txBox="1"/>
          <p:nvPr/>
        </p:nvSpPr>
        <p:spPr>
          <a:xfrm>
            <a:off x="530352" y="768096"/>
            <a:ext cx="4689104" cy="253916"/>
          </a:xfrm>
          <a:prstGeom prst="rect">
            <a:avLst/>
          </a:prstGeom>
          <a:noFill/>
        </p:spPr>
        <p:txBody>
          <a:bodyPr wrap="none">
            <a:spAutoFit/>
          </a:bodyPr>
          <a:lstStyle/>
          <a:p>
            <a:pPr>
              <a:defRPr sz="1050">
                <a:solidFill>
                  <a:srgbClr val="5B6973"/>
                </a:solidFill>
                <a:latin typeface="Aptos"/>
              </a:defRPr>
            </a:pPr>
            <a:r>
              <a:rPr dirty="0"/>
              <a:t>The analysis supports learning and monitoring</a:t>
            </a:r>
            <a:r>
              <a:rPr lang="en-US" dirty="0"/>
              <a:t> </a:t>
            </a:r>
            <a:r>
              <a:rPr dirty="0"/>
              <a:t>not automatic service decisions</a:t>
            </a:r>
          </a:p>
        </p:txBody>
      </p:sp>
      <p:sp>
        <p:nvSpPr>
          <p:cNvPr id="5" name="TextBox 4"/>
          <p:cNvSpPr txBox="1"/>
          <p:nvPr/>
        </p:nvSpPr>
        <p:spPr>
          <a:xfrm>
            <a:off x="685800" y="1325880"/>
            <a:ext cx="5212080" cy="384048"/>
          </a:xfrm>
          <a:prstGeom prst="rect">
            <a:avLst/>
          </a:prstGeom>
          <a:noFill/>
        </p:spPr>
        <p:txBody>
          <a:bodyPr wrap="none" lIns="109728" tIns="109728" rIns="109728" bIns="109728" anchor="ctr">
            <a:spAutoFit/>
          </a:bodyPr>
          <a:lstStyle/>
          <a:p>
            <a:pPr algn="l">
              <a:defRPr sz="1400" b="1">
                <a:solidFill>
                  <a:srgbClr val="193144"/>
                </a:solidFill>
                <a:latin typeface="Aptos"/>
              </a:defRPr>
            </a:pPr>
            <a:r>
              <a:t>One-month sample</a:t>
            </a:r>
          </a:p>
        </p:txBody>
      </p:sp>
      <p:sp>
        <p:nvSpPr>
          <p:cNvPr id="6" name="Rounded Rectangle 5"/>
          <p:cNvSpPr/>
          <p:nvPr/>
        </p:nvSpPr>
        <p:spPr>
          <a:xfrm>
            <a:off x="685800" y="1764792"/>
            <a:ext cx="5212080" cy="749808"/>
          </a:xfrm>
          <a:prstGeom prst="roundRect">
            <a:avLst/>
          </a:prstGeom>
          <a:solidFill>
            <a:srgbClr val="F7F9FA"/>
          </a:solidFill>
          <a:ln>
            <a:solidFill>
              <a:srgbClr val="F7F9F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l">
              <a:defRPr sz="1250" b="0">
                <a:solidFill>
                  <a:srgbClr val="202D37"/>
                </a:solidFill>
                <a:latin typeface="Aptos"/>
              </a:defRPr>
            </a:pPr>
            <a:r>
              <a:t>April 2025 may not represent later months or seasonal demand.</a:t>
            </a:r>
          </a:p>
        </p:txBody>
      </p:sp>
      <p:sp>
        <p:nvSpPr>
          <p:cNvPr id="7" name="TextBox 6"/>
          <p:cNvSpPr txBox="1"/>
          <p:nvPr/>
        </p:nvSpPr>
        <p:spPr>
          <a:xfrm>
            <a:off x="6309360" y="1325880"/>
            <a:ext cx="5212080" cy="384048"/>
          </a:xfrm>
          <a:prstGeom prst="rect">
            <a:avLst/>
          </a:prstGeom>
          <a:noFill/>
        </p:spPr>
        <p:txBody>
          <a:bodyPr wrap="none" lIns="109728" tIns="109728" rIns="109728" bIns="109728" anchor="ctr">
            <a:spAutoFit/>
          </a:bodyPr>
          <a:lstStyle/>
          <a:p>
            <a:pPr algn="l">
              <a:defRPr sz="1400" b="1">
                <a:solidFill>
                  <a:srgbClr val="193144"/>
                </a:solidFill>
                <a:latin typeface="Aptos"/>
              </a:defRPr>
            </a:pPr>
            <a:r>
              <a:t>Unknown sampling method</a:t>
            </a:r>
          </a:p>
        </p:txBody>
      </p:sp>
      <p:sp>
        <p:nvSpPr>
          <p:cNvPr id="8" name="Rounded Rectangle 7"/>
          <p:cNvSpPr/>
          <p:nvPr/>
        </p:nvSpPr>
        <p:spPr>
          <a:xfrm>
            <a:off x="6309360" y="1764792"/>
            <a:ext cx="5212080" cy="749808"/>
          </a:xfrm>
          <a:prstGeom prst="roundRect">
            <a:avLst/>
          </a:prstGeom>
          <a:solidFill>
            <a:srgbClr val="F7F9FA"/>
          </a:solidFill>
          <a:ln>
            <a:solidFill>
              <a:srgbClr val="F7F9F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l">
              <a:defRPr sz="1250" b="0">
                <a:solidFill>
                  <a:srgbClr val="202D37"/>
                </a:solidFill>
                <a:latin typeface="Aptos"/>
              </a:defRPr>
            </a:pPr>
            <a:r>
              <a:t>The supplied sample is not verified as a complete month of NYC 311 demand.</a:t>
            </a:r>
          </a:p>
        </p:txBody>
      </p:sp>
      <p:sp>
        <p:nvSpPr>
          <p:cNvPr id="9" name="TextBox 8"/>
          <p:cNvSpPr txBox="1"/>
          <p:nvPr/>
        </p:nvSpPr>
        <p:spPr>
          <a:xfrm>
            <a:off x="685800" y="2821303"/>
            <a:ext cx="5212080" cy="384048"/>
          </a:xfrm>
          <a:prstGeom prst="rect">
            <a:avLst/>
          </a:prstGeom>
          <a:noFill/>
        </p:spPr>
        <p:txBody>
          <a:bodyPr wrap="none" lIns="109728" tIns="109728" rIns="109728" bIns="109728" anchor="ctr">
            <a:spAutoFit/>
          </a:bodyPr>
          <a:lstStyle/>
          <a:p>
            <a:pPr algn="l">
              <a:defRPr sz="1400" b="1">
                <a:solidFill>
                  <a:srgbClr val="193144"/>
                </a:solidFill>
                <a:latin typeface="Aptos"/>
              </a:defRPr>
            </a:pPr>
            <a:r>
              <a:t>Closed-only status</a:t>
            </a:r>
          </a:p>
        </p:txBody>
      </p:sp>
      <p:sp>
        <p:nvSpPr>
          <p:cNvPr id="10" name="Rounded Rectangle 9"/>
          <p:cNvSpPr/>
          <p:nvPr/>
        </p:nvSpPr>
        <p:spPr>
          <a:xfrm>
            <a:off x="685800" y="3273551"/>
            <a:ext cx="5212080" cy="749808"/>
          </a:xfrm>
          <a:prstGeom prst="roundRect">
            <a:avLst/>
          </a:prstGeom>
          <a:solidFill>
            <a:srgbClr val="F7F9FA"/>
          </a:solidFill>
          <a:ln>
            <a:solidFill>
              <a:srgbClr val="F7F9F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l">
              <a:defRPr sz="1250" b="0">
                <a:solidFill>
                  <a:srgbClr val="202D37"/>
                </a:solidFill>
                <a:latin typeface="Aptos"/>
              </a:defRPr>
            </a:pPr>
            <a:r>
              <a:t>All 40,000 records are labeled Closed; still-open requests may be missing.</a:t>
            </a:r>
          </a:p>
        </p:txBody>
      </p:sp>
      <p:sp>
        <p:nvSpPr>
          <p:cNvPr id="11" name="TextBox 10"/>
          <p:cNvSpPr txBox="1"/>
          <p:nvPr/>
        </p:nvSpPr>
        <p:spPr>
          <a:xfrm>
            <a:off x="6309360" y="2834639"/>
            <a:ext cx="5212080" cy="384048"/>
          </a:xfrm>
          <a:prstGeom prst="rect">
            <a:avLst/>
          </a:prstGeom>
          <a:noFill/>
        </p:spPr>
        <p:txBody>
          <a:bodyPr wrap="none" lIns="109728" tIns="109728" rIns="109728" bIns="109728" anchor="ctr">
            <a:spAutoFit/>
          </a:bodyPr>
          <a:lstStyle/>
          <a:p>
            <a:pPr algn="l">
              <a:defRPr sz="1400" b="1">
                <a:solidFill>
                  <a:srgbClr val="193144"/>
                </a:solidFill>
                <a:latin typeface="Aptos"/>
              </a:defRPr>
            </a:pPr>
            <a:r>
              <a:t>Administrative outcome</a:t>
            </a:r>
          </a:p>
        </p:txBody>
      </p:sp>
      <p:sp>
        <p:nvSpPr>
          <p:cNvPr id="12" name="Rounded Rectangle 11"/>
          <p:cNvSpPr/>
          <p:nvPr/>
        </p:nvSpPr>
        <p:spPr>
          <a:xfrm>
            <a:off x="6309360" y="3273551"/>
            <a:ext cx="5212080" cy="749808"/>
          </a:xfrm>
          <a:prstGeom prst="roundRect">
            <a:avLst/>
          </a:prstGeom>
          <a:solidFill>
            <a:srgbClr val="F7F9FA"/>
          </a:solidFill>
          <a:ln>
            <a:solidFill>
              <a:srgbClr val="F7F9F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l">
              <a:defRPr sz="1250" b="0">
                <a:solidFill>
                  <a:srgbClr val="202D37"/>
                </a:solidFill>
                <a:latin typeface="Aptos"/>
              </a:defRPr>
            </a:pPr>
            <a:r>
              <a:t>Recorded closure does not prove the resident’s issue was resolved.</a:t>
            </a:r>
          </a:p>
        </p:txBody>
      </p:sp>
      <p:sp>
        <p:nvSpPr>
          <p:cNvPr id="13" name="TextBox 12"/>
          <p:cNvSpPr txBox="1"/>
          <p:nvPr/>
        </p:nvSpPr>
        <p:spPr>
          <a:xfrm>
            <a:off x="685800" y="4343400"/>
            <a:ext cx="5212080" cy="384048"/>
          </a:xfrm>
          <a:prstGeom prst="rect">
            <a:avLst/>
          </a:prstGeom>
          <a:noFill/>
        </p:spPr>
        <p:txBody>
          <a:bodyPr wrap="none" lIns="109728" tIns="109728" rIns="109728" bIns="109728" anchor="ctr">
            <a:spAutoFit/>
          </a:bodyPr>
          <a:lstStyle/>
          <a:p>
            <a:pPr algn="l">
              <a:defRPr sz="1400" b="1">
                <a:solidFill>
                  <a:srgbClr val="193144"/>
                </a:solidFill>
                <a:latin typeface="Aptos"/>
              </a:defRPr>
            </a:pPr>
            <a:r>
              <a:t>Relative “slow” label</a:t>
            </a:r>
          </a:p>
        </p:txBody>
      </p:sp>
      <p:sp>
        <p:nvSpPr>
          <p:cNvPr id="14" name="Rounded Rectangle 13"/>
          <p:cNvSpPr/>
          <p:nvPr/>
        </p:nvSpPr>
        <p:spPr>
          <a:xfrm>
            <a:off x="685800" y="4782312"/>
            <a:ext cx="5212080" cy="749808"/>
          </a:xfrm>
          <a:prstGeom prst="roundRect">
            <a:avLst/>
          </a:prstGeom>
          <a:solidFill>
            <a:srgbClr val="F7F9FA"/>
          </a:solidFill>
          <a:ln>
            <a:solidFill>
              <a:srgbClr val="F7F9F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l">
              <a:defRPr sz="1250" b="0">
                <a:solidFill>
                  <a:srgbClr val="202D37"/>
                </a:solidFill>
                <a:latin typeface="Aptos"/>
              </a:defRPr>
            </a:pPr>
            <a:r>
              <a:t>The 75th-percentile definition is not an official service deadline.</a:t>
            </a:r>
          </a:p>
        </p:txBody>
      </p:sp>
      <p:sp>
        <p:nvSpPr>
          <p:cNvPr id="15" name="TextBox 14"/>
          <p:cNvSpPr txBox="1"/>
          <p:nvPr/>
        </p:nvSpPr>
        <p:spPr>
          <a:xfrm>
            <a:off x="6309360" y="4343400"/>
            <a:ext cx="5212080" cy="384048"/>
          </a:xfrm>
          <a:prstGeom prst="rect">
            <a:avLst/>
          </a:prstGeom>
          <a:noFill/>
        </p:spPr>
        <p:txBody>
          <a:bodyPr wrap="none" lIns="109728" tIns="109728" rIns="109728" bIns="109728" anchor="ctr">
            <a:spAutoFit/>
          </a:bodyPr>
          <a:lstStyle/>
          <a:p>
            <a:pPr algn="l">
              <a:defRPr sz="1400" b="1">
                <a:solidFill>
                  <a:srgbClr val="193144"/>
                </a:solidFill>
                <a:latin typeface="Aptos"/>
              </a:defRPr>
            </a:pPr>
            <a:r>
              <a:t>Uneven subgroup behavior</a:t>
            </a:r>
          </a:p>
        </p:txBody>
      </p:sp>
      <p:sp>
        <p:nvSpPr>
          <p:cNvPr id="16" name="Rounded Rectangle 15"/>
          <p:cNvSpPr/>
          <p:nvPr/>
        </p:nvSpPr>
        <p:spPr>
          <a:xfrm>
            <a:off x="6309360" y="4782312"/>
            <a:ext cx="5212080" cy="749808"/>
          </a:xfrm>
          <a:prstGeom prst="roundRect">
            <a:avLst/>
          </a:prstGeom>
          <a:solidFill>
            <a:srgbClr val="F7F9FA"/>
          </a:solidFill>
          <a:ln>
            <a:solidFill>
              <a:srgbClr val="F7F9FA"/>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l">
              <a:defRPr sz="1250" b="0">
                <a:solidFill>
                  <a:srgbClr val="202D37"/>
                </a:solidFill>
                <a:latin typeface="Aptos"/>
              </a:defRPr>
            </a:pPr>
            <a:r>
              <a:t>Recall, specificity, and workload should be monitored by borough and problem type.</a:t>
            </a:r>
          </a:p>
        </p:txBody>
      </p:sp>
      <p:sp>
        <p:nvSpPr>
          <p:cNvPr id="17" name="TextBox 16"/>
          <p:cNvSpPr txBox="1"/>
          <p:nvPr/>
        </p:nvSpPr>
        <p:spPr>
          <a:xfrm>
            <a:off x="685800" y="5989320"/>
            <a:ext cx="10698480" cy="411480"/>
          </a:xfrm>
          <a:prstGeom prst="rect">
            <a:avLst/>
          </a:prstGeom>
          <a:noFill/>
        </p:spPr>
        <p:txBody>
          <a:bodyPr wrap="none" lIns="109728" tIns="109728" rIns="109728" bIns="109728" anchor="ctr">
            <a:spAutoFit/>
          </a:bodyPr>
          <a:lstStyle/>
          <a:p>
            <a:pPr algn="l">
              <a:defRPr sz="1400" b="1">
                <a:solidFill>
                  <a:srgbClr val="B1413E"/>
                </a:solidFill>
                <a:latin typeface="Aptos"/>
              </a:defRPr>
            </a:pPr>
            <a:r>
              <a:t>Urgency, safety, service eligibility, and established obligations must remain ahead of model scores.</a:t>
            </a:r>
          </a:p>
        </p:txBody>
      </p:sp>
      <p:sp>
        <p:nvSpPr>
          <p:cNvPr id="18" name="TextBox 17"/>
          <p:cNvSpPr txBox="1"/>
          <p:nvPr/>
        </p:nvSpPr>
        <p:spPr>
          <a:xfrm>
            <a:off x="10744200" y="6473952"/>
            <a:ext cx="914400" cy="182880"/>
          </a:xfrm>
          <a:prstGeom prst="rect">
            <a:avLst/>
          </a:prstGeom>
          <a:noFill/>
        </p:spPr>
        <p:txBody>
          <a:bodyPr wrap="none">
            <a:spAutoFit/>
          </a:bodyPr>
          <a:lstStyle/>
          <a:p>
            <a:pPr algn="r">
              <a:defRPr sz="900">
                <a:solidFill>
                  <a:srgbClr val="5B6973"/>
                </a:solidFill>
              </a:defRPr>
            </a:pPr>
            <a: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C84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1064240" cy="502920"/>
          </a:xfrm>
          <a:prstGeom prst="rect">
            <a:avLst/>
          </a:prstGeom>
          <a:noFill/>
        </p:spPr>
        <p:txBody>
          <a:bodyPr wrap="none">
            <a:spAutoFit/>
          </a:bodyPr>
          <a:lstStyle/>
          <a:p>
            <a:pPr>
              <a:defRPr sz="2500" b="1">
                <a:solidFill>
                  <a:srgbClr val="193144"/>
                </a:solidFill>
                <a:latin typeface="Aptos Display"/>
              </a:defRPr>
            </a:pPr>
            <a:r>
              <a:t>12. Key takeaways</a:t>
            </a:r>
          </a:p>
        </p:txBody>
      </p:sp>
      <p:sp>
        <p:nvSpPr>
          <p:cNvPr id="4" name="Rounded Rectangle 3"/>
          <p:cNvSpPr/>
          <p:nvPr/>
        </p:nvSpPr>
        <p:spPr>
          <a:xfrm>
            <a:off x="685800" y="1417320"/>
            <a:ext cx="3108960" cy="1234440"/>
          </a:xfrm>
          <a:prstGeom prst="roundRect">
            <a:avLst/>
          </a:prstGeom>
          <a:solidFill>
            <a:srgbClr val="EFF6F7"/>
          </a:solidFill>
          <a:ln>
            <a:solidFill>
              <a:srgbClr val="D7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95528" y="1527048"/>
            <a:ext cx="2889504" cy="256032"/>
          </a:xfrm>
          <a:prstGeom prst="rect">
            <a:avLst/>
          </a:prstGeom>
          <a:noFill/>
        </p:spPr>
        <p:txBody>
          <a:bodyPr wrap="none" lIns="109728" tIns="109728" rIns="109728" bIns="109728" anchor="ctr">
            <a:spAutoFit/>
          </a:bodyPr>
          <a:lstStyle/>
          <a:p>
            <a:pPr algn="l">
              <a:defRPr sz="1000" b="1">
                <a:solidFill>
                  <a:srgbClr val="5B6973"/>
                </a:solidFill>
                <a:latin typeface="Aptos"/>
              </a:defRPr>
            </a:pPr>
            <a:r>
              <a:t>DATA</a:t>
            </a:r>
          </a:p>
        </p:txBody>
      </p:sp>
      <p:sp>
        <p:nvSpPr>
          <p:cNvPr id="6" name="TextBox 5"/>
          <p:cNvSpPr txBox="1"/>
          <p:nvPr/>
        </p:nvSpPr>
        <p:spPr>
          <a:xfrm>
            <a:off x="795528" y="1801368"/>
            <a:ext cx="2889504" cy="438912"/>
          </a:xfrm>
          <a:prstGeom prst="rect">
            <a:avLst/>
          </a:prstGeom>
          <a:noFill/>
        </p:spPr>
        <p:txBody>
          <a:bodyPr wrap="none" lIns="109728" tIns="109728" rIns="109728" bIns="109728" anchor="ctr">
            <a:spAutoFit/>
          </a:bodyPr>
          <a:lstStyle/>
          <a:p>
            <a:pPr algn="l">
              <a:defRPr sz="2400" b="1">
                <a:solidFill>
                  <a:srgbClr val="193144"/>
                </a:solidFill>
                <a:latin typeface="Aptos"/>
              </a:defRPr>
            </a:pPr>
            <a:r>
              <a:t>39,668</a:t>
            </a:r>
          </a:p>
        </p:txBody>
      </p:sp>
      <p:sp>
        <p:nvSpPr>
          <p:cNvPr id="7" name="TextBox 6"/>
          <p:cNvSpPr txBox="1"/>
          <p:nvPr/>
        </p:nvSpPr>
        <p:spPr>
          <a:xfrm>
            <a:off x="795528" y="2295144"/>
            <a:ext cx="2889504" cy="228600"/>
          </a:xfrm>
          <a:prstGeom prst="rect">
            <a:avLst/>
          </a:prstGeom>
          <a:noFill/>
        </p:spPr>
        <p:txBody>
          <a:bodyPr wrap="none" lIns="109728" tIns="109728" rIns="109728" bIns="109728" anchor="ctr">
            <a:spAutoFit/>
          </a:bodyPr>
          <a:lstStyle/>
          <a:p>
            <a:pPr algn="l">
              <a:defRPr sz="900" b="0">
                <a:solidFill>
                  <a:srgbClr val="5B6973"/>
                </a:solidFill>
                <a:latin typeface="Aptos"/>
              </a:defRPr>
            </a:pPr>
            <a:r>
              <a:t>usable closure durations</a:t>
            </a:r>
          </a:p>
        </p:txBody>
      </p:sp>
      <p:sp>
        <p:nvSpPr>
          <p:cNvPr id="8" name="Rounded Rectangle 7"/>
          <p:cNvSpPr/>
          <p:nvPr/>
        </p:nvSpPr>
        <p:spPr>
          <a:xfrm>
            <a:off x="4526280" y="1417320"/>
            <a:ext cx="3108960" cy="1234440"/>
          </a:xfrm>
          <a:prstGeom prst="roundRect">
            <a:avLst/>
          </a:prstGeom>
          <a:solidFill>
            <a:srgbClr val="EFF6F7"/>
          </a:solidFill>
          <a:ln>
            <a:solidFill>
              <a:srgbClr val="D7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36008" y="1527048"/>
            <a:ext cx="2889504" cy="256032"/>
          </a:xfrm>
          <a:prstGeom prst="rect">
            <a:avLst/>
          </a:prstGeom>
          <a:noFill/>
        </p:spPr>
        <p:txBody>
          <a:bodyPr wrap="none" lIns="109728" tIns="109728" rIns="109728" bIns="109728" anchor="ctr">
            <a:spAutoFit/>
          </a:bodyPr>
          <a:lstStyle/>
          <a:p>
            <a:pPr algn="l">
              <a:defRPr sz="1000" b="1">
                <a:solidFill>
                  <a:srgbClr val="5B6973"/>
                </a:solidFill>
                <a:latin typeface="Aptos"/>
              </a:defRPr>
            </a:pPr>
            <a:r>
              <a:t>LINEAR MODEL</a:t>
            </a:r>
          </a:p>
        </p:txBody>
      </p:sp>
      <p:sp>
        <p:nvSpPr>
          <p:cNvPr id="10" name="TextBox 9"/>
          <p:cNvSpPr txBox="1"/>
          <p:nvPr/>
        </p:nvSpPr>
        <p:spPr>
          <a:xfrm>
            <a:off x="4636008" y="1801368"/>
            <a:ext cx="2889504" cy="438912"/>
          </a:xfrm>
          <a:prstGeom prst="rect">
            <a:avLst/>
          </a:prstGeom>
          <a:noFill/>
        </p:spPr>
        <p:txBody>
          <a:bodyPr wrap="none" lIns="109728" tIns="109728" rIns="109728" bIns="109728" anchor="ctr">
            <a:spAutoFit/>
          </a:bodyPr>
          <a:lstStyle/>
          <a:p>
            <a:pPr algn="l">
              <a:defRPr sz="2400" b="1">
                <a:solidFill>
                  <a:srgbClr val="193144"/>
                </a:solidFill>
                <a:latin typeface="Aptos"/>
              </a:defRPr>
            </a:pPr>
            <a:r>
              <a:t>R² = 0.6582</a:t>
            </a:r>
          </a:p>
        </p:txBody>
      </p:sp>
      <p:sp>
        <p:nvSpPr>
          <p:cNvPr id="11" name="TextBox 10"/>
          <p:cNvSpPr txBox="1"/>
          <p:nvPr/>
        </p:nvSpPr>
        <p:spPr>
          <a:xfrm>
            <a:off x="4636008" y="2295144"/>
            <a:ext cx="2889504" cy="228600"/>
          </a:xfrm>
          <a:prstGeom prst="rect">
            <a:avLst/>
          </a:prstGeom>
          <a:noFill/>
        </p:spPr>
        <p:txBody>
          <a:bodyPr wrap="none" lIns="109728" tIns="109728" rIns="109728" bIns="109728" anchor="ctr">
            <a:spAutoFit/>
          </a:bodyPr>
          <a:lstStyle/>
          <a:p>
            <a:pPr algn="l">
              <a:defRPr sz="900" b="0">
                <a:solidFill>
                  <a:srgbClr val="5B6973"/>
                </a:solidFill>
                <a:latin typeface="Aptos"/>
              </a:defRPr>
            </a:pPr>
            <a:r>
              <a:t>validation, transformed scale</a:t>
            </a:r>
          </a:p>
        </p:txBody>
      </p:sp>
      <p:sp>
        <p:nvSpPr>
          <p:cNvPr id="12" name="Rounded Rectangle 11"/>
          <p:cNvSpPr/>
          <p:nvPr/>
        </p:nvSpPr>
        <p:spPr>
          <a:xfrm>
            <a:off x="8366760" y="1417320"/>
            <a:ext cx="3108960" cy="1234440"/>
          </a:xfrm>
          <a:prstGeom prst="roundRect">
            <a:avLst/>
          </a:prstGeom>
          <a:solidFill>
            <a:srgbClr val="EFF6F7"/>
          </a:solidFill>
          <a:ln>
            <a:solidFill>
              <a:srgbClr val="D7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476488" y="1527048"/>
            <a:ext cx="2889504" cy="256032"/>
          </a:xfrm>
          <a:prstGeom prst="rect">
            <a:avLst/>
          </a:prstGeom>
          <a:noFill/>
        </p:spPr>
        <p:txBody>
          <a:bodyPr wrap="none" lIns="109728" tIns="109728" rIns="109728" bIns="109728" anchor="ctr">
            <a:spAutoFit/>
          </a:bodyPr>
          <a:lstStyle/>
          <a:p>
            <a:pPr algn="l">
              <a:defRPr sz="1000" b="1">
                <a:solidFill>
                  <a:srgbClr val="5B6973"/>
                </a:solidFill>
                <a:latin typeface="Aptos"/>
              </a:defRPr>
            </a:pPr>
            <a:r>
              <a:t>CLASSIFIER</a:t>
            </a:r>
          </a:p>
        </p:txBody>
      </p:sp>
      <p:sp>
        <p:nvSpPr>
          <p:cNvPr id="14" name="TextBox 13"/>
          <p:cNvSpPr txBox="1"/>
          <p:nvPr/>
        </p:nvSpPr>
        <p:spPr>
          <a:xfrm>
            <a:off x="8476488" y="1801368"/>
            <a:ext cx="2889504" cy="438912"/>
          </a:xfrm>
          <a:prstGeom prst="rect">
            <a:avLst/>
          </a:prstGeom>
          <a:noFill/>
        </p:spPr>
        <p:txBody>
          <a:bodyPr wrap="none" lIns="109728" tIns="109728" rIns="109728" bIns="109728" anchor="ctr">
            <a:spAutoFit/>
          </a:bodyPr>
          <a:lstStyle/>
          <a:p>
            <a:pPr algn="l">
              <a:defRPr sz="2400" b="1">
                <a:solidFill>
                  <a:srgbClr val="193144"/>
                </a:solidFill>
                <a:latin typeface="Aptos"/>
              </a:defRPr>
            </a:pPr>
            <a:r>
              <a:t>AUC = 0.5542</a:t>
            </a:r>
          </a:p>
        </p:txBody>
      </p:sp>
      <p:sp>
        <p:nvSpPr>
          <p:cNvPr id="15" name="TextBox 14"/>
          <p:cNvSpPr txBox="1"/>
          <p:nvPr/>
        </p:nvSpPr>
        <p:spPr>
          <a:xfrm>
            <a:off x="8476488" y="2295144"/>
            <a:ext cx="2889504" cy="228600"/>
          </a:xfrm>
          <a:prstGeom prst="rect">
            <a:avLst/>
          </a:prstGeom>
          <a:noFill/>
        </p:spPr>
        <p:txBody>
          <a:bodyPr wrap="none" lIns="109728" tIns="109728" rIns="109728" bIns="109728" anchor="ctr">
            <a:spAutoFit/>
          </a:bodyPr>
          <a:lstStyle/>
          <a:p>
            <a:pPr algn="l">
              <a:defRPr sz="900" b="0">
                <a:solidFill>
                  <a:srgbClr val="5B6973"/>
                </a:solidFill>
                <a:latin typeface="Aptos"/>
              </a:defRPr>
            </a:pPr>
            <a:r>
              <a:t>weak ranking</a:t>
            </a:r>
          </a:p>
        </p:txBody>
      </p:sp>
      <p:sp>
        <p:nvSpPr>
          <p:cNvPr id="16" name="Rounded Rectangle 15"/>
          <p:cNvSpPr/>
          <p:nvPr/>
        </p:nvSpPr>
        <p:spPr>
          <a:xfrm>
            <a:off x="685800" y="3063240"/>
            <a:ext cx="10607040" cy="822960"/>
          </a:xfrm>
          <a:prstGeom prst="roundRect">
            <a:avLst/>
          </a:prstGeom>
          <a:solidFill>
            <a:srgbClr val="EFF6F7"/>
          </a:solidFill>
          <a:ln>
            <a:solidFill>
              <a:srgbClr val="EFF6F7"/>
            </a:solidFill>
          </a:ln>
        </p:spPr>
        <p:style>
          <a:lnRef idx="1">
            <a:schemeClr val="accent1"/>
          </a:lnRef>
          <a:fillRef idx="3">
            <a:schemeClr val="accent1"/>
          </a:fillRef>
          <a:effectRef idx="2">
            <a:schemeClr val="accent1"/>
          </a:effectRef>
          <a:fontRef idx="minor">
            <a:schemeClr val="lt1"/>
          </a:fontRef>
        </p:style>
        <p:txBody>
          <a:bodyPr lIns="109728" tIns="109728" rIns="109728" bIns="109728" rtlCol="0" anchor="ctr"/>
          <a:lstStyle/>
          <a:p>
            <a:pPr algn="l">
              <a:defRPr sz="1800" b="1">
                <a:solidFill>
                  <a:srgbClr val="193144"/>
                </a:solidFill>
                <a:latin typeface="Aptos"/>
              </a:defRPr>
            </a:pPr>
            <a:r>
              <a:rPr dirty="0"/>
              <a:t>The strongest finding is not that the model is ready to automate decisions—it is that closure behavior varies greatly and model performance must be judged on the scale and workload that matter operationally.</a:t>
            </a:r>
          </a:p>
        </p:txBody>
      </p:sp>
      <p:sp>
        <p:nvSpPr>
          <p:cNvPr id="17" name="TextBox 16"/>
          <p:cNvSpPr txBox="1"/>
          <p:nvPr/>
        </p:nvSpPr>
        <p:spPr>
          <a:xfrm>
            <a:off x="609600" y="4297680"/>
            <a:ext cx="10363200" cy="1073114"/>
          </a:xfrm>
          <a:prstGeom prst="rect">
            <a:avLst/>
          </a:prstGeom>
          <a:noFill/>
        </p:spPr>
        <p:txBody>
          <a:bodyPr wrap="square" lIns="164592" tIns="109728" rIns="164592" bIns="109728">
            <a:spAutoFit/>
          </a:bodyPr>
          <a:lstStyle/>
          <a:p>
            <a:pPr>
              <a:spcAft>
                <a:spcPts val="800"/>
              </a:spcAft>
              <a:defRPr sz="1400">
                <a:solidFill>
                  <a:srgbClr val="202D37"/>
                </a:solidFill>
                <a:latin typeface="Aptos"/>
              </a:defRPr>
            </a:pPr>
            <a:r>
              <a:t>• Use descriptive findings to investigate workflows and data quality.</a:t>
            </a:r>
          </a:p>
          <a:p>
            <a:pPr>
              <a:spcAft>
                <a:spcPts val="800"/>
              </a:spcAft>
              <a:defRPr sz="1400">
                <a:solidFill>
                  <a:srgbClr val="202D37"/>
                </a:solidFill>
                <a:latin typeface="Aptos"/>
              </a:defRPr>
            </a:pPr>
            <a:r>
              <a:t>• Validate on later data before operational use.</a:t>
            </a:r>
          </a:p>
          <a:p>
            <a:pPr>
              <a:spcAft>
                <a:spcPts val="800"/>
              </a:spcAft>
              <a:defRPr sz="1400">
                <a:solidFill>
                  <a:srgbClr val="202D37"/>
                </a:solidFill>
                <a:latin typeface="Aptos"/>
              </a:defRPr>
            </a:pPr>
            <a:r>
              <a:t>• Keep staff judgment and service obligations ahead of model scores.</a:t>
            </a:r>
          </a:p>
        </p:txBody>
      </p:sp>
      <p:sp>
        <p:nvSpPr>
          <p:cNvPr id="18" name="TextBox 17"/>
          <p:cNvSpPr txBox="1"/>
          <p:nvPr/>
        </p:nvSpPr>
        <p:spPr>
          <a:xfrm>
            <a:off x="822960" y="5897880"/>
            <a:ext cx="3657600" cy="320040"/>
          </a:xfrm>
          <a:prstGeom prst="rect">
            <a:avLst/>
          </a:prstGeom>
          <a:noFill/>
        </p:spPr>
        <p:txBody>
          <a:bodyPr wrap="none" lIns="109728" tIns="109728" rIns="109728" bIns="109728" anchor="ctr">
            <a:spAutoFit/>
          </a:bodyPr>
          <a:lstStyle/>
          <a:p>
            <a:pPr algn="l">
              <a:defRPr sz="1800" b="1">
                <a:solidFill>
                  <a:srgbClr val="2C8494"/>
                </a:solidFill>
                <a:latin typeface="Aptos"/>
              </a:defRPr>
            </a:pPr>
            <a:r>
              <a:t>Questions?</a:t>
            </a:r>
          </a:p>
        </p:txBody>
      </p:sp>
      <p:sp>
        <p:nvSpPr>
          <p:cNvPr id="19" name="TextBox 18"/>
          <p:cNvSpPr txBox="1"/>
          <p:nvPr/>
        </p:nvSpPr>
        <p:spPr>
          <a:xfrm>
            <a:off x="10744200" y="6473952"/>
            <a:ext cx="914400" cy="182880"/>
          </a:xfrm>
          <a:prstGeom prst="rect">
            <a:avLst/>
          </a:prstGeom>
          <a:noFill/>
        </p:spPr>
        <p:txBody>
          <a:bodyPr wrap="none">
            <a:spAutoFit/>
          </a:bodyPr>
          <a:lstStyle/>
          <a:p>
            <a:pPr algn="r">
              <a:defRPr sz="900">
                <a:solidFill>
                  <a:srgbClr val="5B6973"/>
                </a:solidFill>
              </a:defRPr>
            </a:pPr>
            <a: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TotalTime>
  <Words>1136</Words>
  <Application>Microsoft Office PowerPoint</Application>
  <PresentationFormat>Widescreen</PresentationFormat>
  <Paragraphs>153</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NYC 311 Service Request Delay Prediction</dc:title>
  <dc:subject>ITC 353 project presentation based on April 2025 NYC 311 analysis</dc:subject>
  <dc:creator>NYC 311 Analytics Student</dc:creator>
  <cp:keywords/>
  <dc:description>generated using python-pptx</dc:description>
  <cp:lastModifiedBy>Dinar, Iftekhar</cp:lastModifiedBy>
  <cp:revision>2</cp:revision>
  <dcterms:created xsi:type="dcterms:W3CDTF">2013-01-27T09:14:16Z</dcterms:created>
  <dcterms:modified xsi:type="dcterms:W3CDTF">2026-09-27T22:46:53Z</dcterms:modified>
  <cp:category/>
</cp:coreProperties>
</file>