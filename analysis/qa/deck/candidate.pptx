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a115414a314ed6" /><Relationship Type="http://schemas.openxmlformats.org/officeDocument/2006/relationships/extended-properties" Target="/docProps/app.xml" Id="R2922d60c72ff402d" /><Relationship Type="http://schemas.openxmlformats.org/officeDocument/2006/relationships/officeDocument" Target="/ppt/presentation.xml" Id="R5e5556241b164c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119aa7a364dcf"/>
  </p:sldMasterIdLst>
  <p:notesMasterIdLst>
    <p:notesMasterId xmlns:r="http://schemas.openxmlformats.org/officeDocument/2006/relationships" r:id="R72f985daedbd486f"/>
  </p:notesMasterIdLst>
  <p:sldIdLst>
    <p:sldId xmlns:r="http://schemas.openxmlformats.org/officeDocument/2006/relationships" id="256" r:id="R094cff85098b4fd1"/>
    <p:sldId xmlns:r="http://schemas.openxmlformats.org/officeDocument/2006/relationships" id="257" r:id="R860abb5cd3f64d2c"/>
    <p:sldId xmlns:r="http://schemas.openxmlformats.org/officeDocument/2006/relationships" id="258" r:id="Rd08f572fc7084ee9"/>
    <p:sldId xmlns:r="http://schemas.openxmlformats.org/officeDocument/2006/relationships" id="259" r:id="R8879d216558e4c5c"/>
    <p:sldId xmlns:r="http://schemas.openxmlformats.org/officeDocument/2006/relationships" id="260" r:id="Rae57ddaa1fb14be2"/>
    <p:sldId xmlns:r="http://schemas.openxmlformats.org/officeDocument/2006/relationships" id="261" r:id="R4c81441de7404e2d"/>
    <p:sldId xmlns:r="http://schemas.openxmlformats.org/officeDocument/2006/relationships" id="262" r:id="Rb1696394edb6443b"/>
    <p:sldId xmlns:r="http://schemas.openxmlformats.org/officeDocument/2006/relationships" id="263" r:id="Rb9b1eac323b44fc4"/>
    <p:sldId xmlns:r="http://schemas.openxmlformats.org/officeDocument/2006/relationships" id="264" r:id="R740d69e0d07a45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f2d6ab46694cc1" /><Relationship Type="http://schemas.openxmlformats.org/officeDocument/2006/relationships/slideMaster" Target="/ppt/slideMasters/slideMaster1.xml" Id="R02e119aa7a364dcf" /><Relationship Type="http://schemas.openxmlformats.org/officeDocument/2006/relationships/notesMaster" Target="/ppt/notesMasters/notesMaster1.xml" Id="R72f985daedbd486f" /><Relationship Type="http://schemas.openxmlformats.org/officeDocument/2006/relationships/presProps" Target="/ppt/presProps.xml" Id="Rc68b90097c284996" /><Relationship Type="http://schemas.openxmlformats.org/officeDocument/2006/relationships/tableStyles" Target="/ppt/tableStyles.xml" Id="Rfc74e06945904a72" /><Relationship Type="http://schemas.openxmlformats.org/officeDocument/2006/relationships/slide" Target="/ppt/slides/slide1.xml" Id="R094cff85098b4fd1" /><Relationship Type="http://schemas.openxmlformats.org/officeDocument/2006/relationships/slide" Target="/ppt/slides/slide2.xml" Id="R860abb5cd3f64d2c" /><Relationship Type="http://schemas.openxmlformats.org/officeDocument/2006/relationships/slide" Target="/ppt/slides/slide3.xml" Id="Rd08f572fc7084ee9" /><Relationship Type="http://schemas.openxmlformats.org/officeDocument/2006/relationships/slide" Target="/ppt/slides/slide4.xml" Id="R8879d216558e4c5c" /><Relationship Type="http://schemas.openxmlformats.org/officeDocument/2006/relationships/slide" Target="/ppt/slides/slide5.xml" Id="Rae57ddaa1fb14be2" /><Relationship Type="http://schemas.openxmlformats.org/officeDocument/2006/relationships/slide" Target="/ppt/slides/slide6.xml" Id="R4c81441de7404e2d" /><Relationship Type="http://schemas.openxmlformats.org/officeDocument/2006/relationships/slide" Target="/ppt/slides/slide7.xml" Id="Rb1696394edb6443b" /><Relationship Type="http://schemas.openxmlformats.org/officeDocument/2006/relationships/slide" Target="/ppt/slides/slide8.xml" Id="Rb9b1eac323b44fc4" /><Relationship Type="http://schemas.openxmlformats.org/officeDocument/2006/relationships/slide" Target="/ppt/slides/slide9.xml" Id="R740d69e0d07a45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77418312d4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67b94df3754cd1" /><Relationship Type="http://schemas.openxmlformats.org/officeDocument/2006/relationships/notesMaster" Target="/ppt/notesMasters/notesMaster1.xml" Id="R4b97528b826647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1fc233747a44f4" /><Relationship Type="http://schemas.openxmlformats.org/officeDocument/2006/relationships/notesMaster" Target="/ppt/notesMasters/notesMaster1.xml" Id="R5d80fe45ff0843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f1c2dde58346bc" /><Relationship Type="http://schemas.openxmlformats.org/officeDocument/2006/relationships/notesMaster" Target="/ppt/notesMasters/notesMaster1.xml" Id="R7f64938737fb45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63a64dbc5e4bc8" /><Relationship Type="http://schemas.openxmlformats.org/officeDocument/2006/relationships/notesMaster" Target="/ppt/notesMasters/notesMaster1.xml" Id="Raa39fe80143744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9a788eaf3548ab" /><Relationship Type="http://schemas.openxmlformats.org/officeDocument/2006/relationships/notesMaster" Target="/ppt/notesMasters/notesMaster1.xml" Id="R494c382ff6474d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446a106d2e446a" /><Relationship Type="http://schemas.openxmlformats.org/officeDocument/2006/relationships/notesMaster" Target="/ppt/notesMasters/notesMaster1.xml" Id="R70cc778c60b845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2db3f88bfc49e5" /><Relationship Type="http://schemas.openxmlformats.org/officeDocument/2006/relationships/notesMaster" Target="/ppt/notesMasters/notesMaster1.xml" Id="Rfde4b49f08dc4e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213efe6b054212" /><Relationship Type="http://schemas.openxmlformats.org/officeDocument/2006/relationships/notesMaster" Target="/ppt/notesMasters/notesMaster1.xml" Id="R266f89b38ee34f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d228ce4bd47d4" /><Relationship Type="http://schemas.openxmlformats.org/officeDocument/2006/relationships/notesMaster" Target="/ppt/notesMasters/notesMaster1.xml" Id="R31b73321a6e4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ITC 353 Project 1. Supplied NYC311_April2025_RawSample.csv. All analysis executed in base R 4.6.1. AI assistance disclosed in worksheet.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overview and R outputs cleaning.csv, split_summary.csv. NYC 311 FAQ https://www.nyc.gov/site/311reporting/faq/faq.page and service request guidance https://portal.311.nyc.gov/article/?kanumber=KA-03116 accessed September 26, 2026. Closure does not establish that an issue was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analysis/tables/duration_summary.csv, 39,668 eligible requests. 677 zero-hour durations retained; 2,930 over 30 days. Chart values in hours.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NYC311_Analysis.R. 70/30 random split, seed 353: 27,767 training and 11,901 validation. Predictors: grouped problem, borough, channel, weekday, hour_sin and hour_cos. Problem levels with fewer than 100 training rows pooled; channel rare fallback to mode. Slow thresholds estimated on training original problem types; fewer than 30 records uses global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analysis/tables/linear_metrics.csv, linear_baseline_log.csv and hours_metrics.csv. Validation RMSE log1p-hours 1.308899; training 1.293800. Baseline log RMSE 2.238796. Predictive R-squared .6581893. Hour predictions use Duan smearing estimated from training residuals. Hour MAE 316.65 versus baseline 392.31.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analysis/tables/classification_metrics.csv and model_extras.csv. Validation n=11,901; cutoff=.25; TN=4997, FP=3789, FN=1550, TP=1565. AUC=.554211. At .50: no flags, accuracy=.7382573 and recall=0. Cutoff .25 chosen as screening assumption, not tuned on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analysis/tables/optional_borough_monitor.csv. Validation flag rates at .25. Group case mix and calibration may contribute; chart does not establish causality or discrimination. Bronx n=2288; Brooklyn=3748; Manhattan=2480; Queens=2958; Staten Island=427.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derived from weak AUC, low precision, hour-scale errors, sampling limitations, and borough monitoring. No operational impact has been demonstrated. This is a classroom analysis, not an endorsed or deployed NYC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sample and analysis. Unknown sampling method; April boundary days underrepresented. Random split may not isolate related requests. Definition is relative, not an official SLA. Tool use: base R for all statistics; AI-assisted code and reporting; independent metric checks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350a1a2844e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74ed469264312" /><Relationship Type="http://schemas.openxmlformats.org/officeDocument/2006/relationships/slideLayout" Target="/ppt/slideLayouts/slideLayout1.xml" Id="R56c9c90572c14d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c9c90572c14d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476df968d4abc" /><Relationship Type="http://schemas.openxmlformats.org/officeDocument/2006/relationships/notesSlide" Target="/ppt/notesSlides/notesSlide1.xml" Id="Rada961520acd48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fd2b29c194fc9" /><Relationship Type="http://schemas.openxmlformats.org/officeDocument/2006/relationships/notesSlide" Target="/ppt/notesSlides/notesSlide2.xml" Id="Rf825445adc8a4f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08ca661f34656" /><Relationship Type="http://schemas.openxmlformats.org/officeDocument/2006/relationships/chart" Target="/ppt/slides/charts/chart1.xml" Id="Rb23b31984bab4f95" /><Relationship Type="http://schemas.openxmlformats.org/officeDocument/2006/relationships/notesSlide" Target="/ppt/notesSlides/notesSlide3.xml" Id="R4e90ca078b1545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b73bf14aa413a" /><Relationship Type="http://schemas.openxmlformats.org/officeDocument/2006/relationships/notesSlide" Target="/ppt/notesSlides/notesSlide4.xml" Id="Rb181190800c640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cf1d498dd457c" /><Relationship Type="http://schemas.openxmlformats.org/officeDocument/2006/relationships/chart" Target="/ppt/slides/charts/chart2.xml" Id="Rf96a479587c04086" /><Relationship Type="http://schemas.openxmlformats.org/officeDocument/2006/relationships/notesSlide" Target="/ppt/notesSlides/notesSlide5.xml" Id="Rf3c061e24f0842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29a2f0bbb4d7d" /><Relationship Type="http://schemas.openxmlformats.org/officeDocument/2006/relationships/chart" Target="/ppt/slides/charts/chart3.xml" Id="Rd48efe268e0445f5" /><Relationship Type="http://schemas.openxmlformats.org/officeDocument/2006/relationships/notesSlide" Target="/ppt/notesSlides/notesSlide6.xml" Id="R81d01e46b3ac4e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0418db7184256" /><Relationship Type="http://schemas.openxmlformats.org/officeDocument/2006/relationships/chart" Target="/ppt/slides/charts/chart4.xml" Id="R63a7096de85946f9" /><Relationship Type="http://schemas.openxmlformats.org/officeDocument/2006/relationships/notesSlide" Target="/ppt/notesSlides/notesSlide7.xml" Id="R7b3cc93b5f7f4a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c9384b96449bb" /><Relationship Type="http://schemas.openxmlformats.org/officeDocument/2006/relationships/notesSlide" Target="/ppt/notesSlides/notesSlide8.xml" Id="R917df6b97ede46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685f730994a7a" /><Relationship Type="http://schemas.openxmlformats.org/officeDocument/2006/relationships/notesSlide" Target="/ppt/notesSlides/notesSlide9.xml" Id="Rb1b46de7fdc544e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287D8E"/>
            </a:solidFill>
          </c:spPr>
          <c:cat>
            <c:strLit>
              <c:ptCount val="3"/>
              <c:pt idx="0">
                <c:v>Median</c:v>
              </c:pt>
              <c:pt idx="1">
                <c:v>Mean</c:v>
              </c:pt>
              <c:pt idx="2">
                <c:v>95th percentile</c:v>
              </c:pt>
            </c:strLit>
          </c:cat>
          <c:val>
            <c:numLit>
              <c:formatCode>#,##0.0</c:formatCode>
              <c:ptCount val="3"/>
              <c:pt idx="0">
                <c:v>6.6816666667</c:v>
              </c:pt>
              <c:pt idx="1">
                <c:v>251.355594</c:v>
              </c:pt>
              <c:pt idx="2">
                <c:v>1251.437111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374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Hour RMSE</c:v>
          </c:tx>
          <c:spPr>
            <a:solidFill xmlns:a="http://schemas.openxmlformats.org/drawingml/2006/main">
              <a:srgbClr val="287D8E"/>
            </a:solidFill>
          </c:spPr>
          <c:cat>
            <c:strLit>
              <c:ptCount val="2"/>
              <c:pt idx="0">
                <c:v>Mean baseline</c:v>
              </c:pt>
              <c:pt idx="1">
                <c:v>Converted linear model</c:v>
              </c:pt>
            </c:strLit>
          </c:cat>
          <c:val>
            <c:numLit>
              <c:formatCode>#,##0.0</c:formatCode>
              <c:ptCount val="2"/>
              <c:pt idx="0">
                <c:v>970.9672</c:v>
              </c:pt>
              <c:pt idx="1">
                <c:v>1373.1778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374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287D8E"/>
            </a:solidFill>
          </c:spPr>
          <c:cat>
            <c:strLit>
              <c:ptCount val="3"/>
              <c:pt idx="0">
                <c:v>Recall %</c:v>
              </c:pt>
              <c:pt idx="1">
                <c:v>Precision %</c:v>
              </c:pt>
              <c:pt idx="2">
                <c:v>Requests flagged %</c:v>
              </c:pt>
            </c:strLit>
          </c:cat>
          <c:val>
            <c:numLit>
              <c:formatCode>#,##0.0</c:formatCode>
              <c:ptCount val="3"/>
              <c:pt idx="0">
                <c:v>50.24077</c:v>
              </c:pt>
              <c:pt idx="1">
                <c:v>29.23048</c:v>
              </c:pt>
              <c:pt idx="2">
                <c:v>44.98782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374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Flag rate %</c:v>
          </c:tx>
          <c:spPr>
            <a:solidFill xmlns:a="http://schemas.openxmlformats.org/drawingml/2006/main">
              <a:srgbClr val="287D8E"/>
            </a:solidFill>
          </c:spPr>
          <c:cat>
            <c:strLit>
              <c:ptCount val="5"/>
              <c:pt idx="0">
                <c:v>Bronx</c:v>
              </c:pt>
              <c:pt idx="1">
                <c:v>Brooklyn</c:v>
              </c:pt>
              <c:pt idx="2">
                <c:v>Manhattan</c:v>
              </c:pt>
              <c:pt idx="3">
                <c:v>Queens</c:v>
              </c:pt>
              <c:pt idx="4">
                <c:v>Staten Island</c:v>
              </c:pt>
            </c:strLit>
          </c:cat>
          <c:val>
            <c:numLit>
              <c:formatCode>#,##0.0</c:formatCode>
              <c:ptCount val="5"/>
              <c:pt idx="0">
                <c:v>99.43182</c:v>
              </c:pt>
              <c:pt idx="1">
                <c:v>20.9445</c:v>
              </c:pt>
              <c:pt idx="2">
                <c:v>37.37903</c:v>
              </c:pt>
              <c:pt idx="3">
                <c:v>46.04462</c:v>
              </c:pt>
              <c:pt idx="4">
                <c:v>1.17096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243746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#,##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024B6-9534-4DE7-841F-DA0E25AF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NYC 311 closure delay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6AA55-3731-49CE-A39D-AA81E7BA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April 2025 sample | ITC 353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34980-881F-4D87-A5B3-A892FAA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Evidence for monitoring and follow-up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B7432-A713-4A36-8B44-EEFFAE42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NYC 311 Analytics Student</a:t>
            </a:r>
          </a:p>
        </p:txBody>
      </p:sp>
    </p:spTree>
    <p:extLst>
      <p:ext uri="{BB962C8B-B14F-4D97-AF65-F5344CB8AC3E}">
        <p14:creationId xmlns:p14="http://schemas.microsoft.com/office/powerpoint/2010/main" val="630294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22C2E-0B44-4C8A-9EC5-7AF3F582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Operational decision and data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66E81-D16F-4BBF-A79A-F73F570C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Which incoming requests may need extra follow-up?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546A2-DD8D-48BA-8077-E48149D9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40,000 records; 39,668 have usable closure durations.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67A0-9C48-4CAE-8149-B7D647B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All are labeled Closed. Still-open requests may be absent.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32DCD-9B21-457E-9E1E-34F1EA00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Recorded closure is not proof that the issue was resolved.</a:t>
            </a:r>
          </a:p>
        </p:txBody>
      </p:sp>
    </p:spTree>
    <p:extLst>
      <p:ext uri="{BB962C8B-B14F-4D97-AF65-F5344CB8AC3E}">
        <p14:creationId xmlns:p14="http://schemas.microsoft.com/office/powerpoint/2010/main" val="798704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0BCEB-ED6C-43C0-890C-75CEAF26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Closure times have a long upper tail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3b31984bab4f9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2CED2-8732-4A77-B44E-75BFD920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Hours to recorded closure. 2,930 requests exceed 30 days.</a:t>
            </a:r>
          </a:p>
        </p:txBody>
      </p:sp>
    </p:spTree>
    <p:extLst>
      <p:ext uri="{BB962C8B-B14F-4D97-AF65-F5344CB8AC3E}">
        <p14:creationId xmlns:p14="http://schemas.microsoft.com/office/powerpoint/2010/main" val="1642488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E1CAE-0A0E-451D-A774-ED2F666E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Modeling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70495-5ABB-4076-BDCE-B0ADDFAD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Two models: closure duration and probability of being slow.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55C38-EA36-40E8-AA0C-AEE927BD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Slow means above a problem type’s training 75th percentile.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A8220-4B6E-4089-BFC5-637835AD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70% training / 30% validation; preprocessing uses training 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500E1-1807-494A-8957-D2799306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Predictors use submission context; later outcomes are excluded.</a:t>
            </a:r>
          </a:p>
        </p:txBody>
      </p:sp>
    </p:spTree>
    <p:extLst>
      <p:ext uri="{BB962C8B-B14F-4D97-AF65-F5344CB8AC3E}">
        <p14:creationId xmlns:p14="http://schemas.microsoft.com/office/powerpoint/2010/main" val="2037827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FE9CD-2BBB-4A92-B84D-2C4C4797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Log-scale fit does not ensure accurate hours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6a479587c04086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CE3D7-1B6B-41CB-9DEB-6537E0FA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Hour RMSE is worse than the baseline. Avoid completion-time promises.</a:t>
            </a:r>
          </a:p>
        </p:txBody>
      </p:sp>
    </p:spTree>
    <p:extLst>
      <p:ext uri="{BB962C8B-B14F-4D97-AF65-F5344CB8AC3E}">
        <p14:creationId xmlns:p14="http://schemas.microsoft.com/office/powerpoint/2010/main" val="854812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A8DE1-2A87-4569-9B0E-6A5D3478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Slow-request detection is weak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8efe268e0445f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4EAB7-70F6-4718-9445-DD9E5CC2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About half of slow requests are missed; most flags are false alerts.</a:t>
            </a:r>
          </a:p>
        </p:txBody>
      </p:sp>
    </p:spTree>
    <p:extLst>
      <p:ext uri="{BB962C8B-B14F-4D97-AF65-F5344CB8AC3E}">
        <p14:creationId xmlns:p14="http://schemas.microsoft.com/office/powerpoint/2010/main" val="30135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5DE28-FC52-4BC1-9E30-4CA63CBC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One cutoff creates uneven borough workloads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47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a7096de85946f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6327C-8558-4E05-A673-D6D5CED5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Flag rates in validation, %. Review subgroup errors before any pilot.</a:t>
            </a:r>
          </a:p>
        </p:txBody>
      </p:sp>
    </p:spTree>
    <p:extLst>
      <p:ext uri="{BB962C8B-B14F-4D97-AF65-F5344CB8AC3E}">
        <p14:creationId xmlns:p14="http://schemas.microsoft.com/office/powerpoint/2010/main" val="911923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9042A-C158-43D5-99BC-7BF202C0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Recommendation for city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8FA05-8280-4161-BC41-9AA13210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Do not automate prioritization with the current classifier.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018CF-B086-476D-97BA-9AA5A846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Investigate long closure workflows and missing timestamps.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7100B-0E47-4D81-9249-9D8549DE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Test later-month data, including requests that remain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9103D-03CA-454E-BCDC-F273FD03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If piloted, use staff review and explicit limits on alert workload.</a:t>
            </a:r>
          </a:p>
        </p:txBody>
      </p:sp>
    </p:spTree>
    <p:extLst>
      <p:ext uri="{BB962C8B-B14F-4D97-AF65-F5344CB8AC3E}">
        <p14:creationId xmlns:p14="http://schemas.microsoft.com/office/powerpoint/2010/main" val="2036405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F73E8-68ED-42F5-997D-B1A23C65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Limits and next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09767-BC87-4575-880E-DA7A261A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One month and an unknown sampling method limit generalization.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59E60-1156-4760-A5E7-4537E5B8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Relative slow status is not an official service deadline.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DAD04-1D5C-4E90-ACE7-E59BD80F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Compare against simple rules and review errors by problem and borough.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8A7FE-2212-45C3-9047-8BED1D3A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43746"/>
                </a:solidFill>
                <a:latin typeface="Calibri"/>
                <a:ea typeface="Calibri"/>
                <a:cs typeface="Calibri"/>
              </a:rPr>
              <a:t>Urgency and service obligations must remain ahead of model scores.</a:t>
            </a:r>
          </a:p>
        </p:txBody>
      </p:sp>
    </p:spTree>
    <p:extLst>
      <p:ext uri="{BB962C8B-B14F-4D97-AF65-F5344CB8AC3E}">
        <p14:creationId xmlns:p14="http://schemas.microsoft.com/office/powerpoint/2010/main" val="1975147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2026-09-26T21:06:36.2930000Z</dcterms:created>
  <dcterms:modified xsi:type="dcterms:W3CDTF">2026-09-26T21:06:36.2930000Z</dcterms:modified>
</coreProperties>
</file>